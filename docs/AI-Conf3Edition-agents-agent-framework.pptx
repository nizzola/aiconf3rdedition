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347" r:id="rId3"/>
    <p:sldId id="348" r:id="rId4"/>
    <p:sldId id="1820" r:id="rId5"/>
    <p:sldId id="1823" r:id="rId6"/>
    <p:sldId id="1821" r:id="rId7"/>
    <p:sldId id="1822" r:id="rId8"/>
    <p:sldId id="1824" r:id="rId9"/>
    <p:sldId id="1819" r:id="rId10"/>
    <p:sldId id="259" r:id="rId11"/>
    <p:sldId id="258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1814" r:id="rId23"/>
    <p:sldId id="270" r:id="rId24"/>
    <p:sldId id="271" r:id="rId25"/>
    <p:sldId id="272" r:id="rId26"/>
    <p:sldId id="1809" r:id="rId27"/>
    <p:sldId id="1818" r:id="rId28"/>
    <p:sldId id="1817" r:id="rId29"/>
    <p:sldId id="273" r:id="rId30"/>
    <p:sldId id="274" r:id="rId31"/>
    <p:sldId id="292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2001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F86C6-2557-6665-D803-04544A7C7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1C58D2-4BD1-CB89-6453-B7B6F9C91B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3E3703-FDEF-5A2B-5A2E-0EB1336E7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9B0208-1892-5835-F9EE-7DB760F64C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59016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B19B3-784D-721A-10F9-1B8EC0A9E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0E9298-5987-7610-A551-7437E324C4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AE91B2-3049-894E-0B48-300DC1BDD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4C692-C6C2-FAA0-1AAB-38C2B23473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596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01929" y="891882"/>
            <a:ext cx="8740142" cy="148923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1471"/>
            </a:lvl2pPr>
            <a:lvl3pPr marL="168090" indent="0">
              <a:buNone/>
              <a:defRPr/>
            </a:lvl3pPr>
            <a:lvl4pPr marL="336179" indent="0">
              <a:buNone/>
              <a:defRPr/>
            </a:lvl4pPr>
            <a:lvl5pPr marL="504269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9427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CBF8BA-56FC-3065-66F0-ADA098029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B023C7-5720-6AAC-125D-74D5C90D3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EE85DC-EC66-4573-CCF5-3E78A6669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406EF-4825-473C-A455-2D770F3B883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669C46-1C86-D406-62E2-367EC924E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13C2C7-27FE-6ADD-3F70-0AECD3DCF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79BDC-E9AE-4725-99C2-D9665B882A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806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9.jpe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9.jpe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jpe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ortal.azure.com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hyperlink" Target="https://learn.microsoft.com/pt-br/azure/architecture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arn.microsoft.com/en-us/azure/architecture/ai-ml/architecture/basic-microsoft-foundry-chat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373386" y="3437930"/>
            <a:ext cx="6397228" cy="10161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1"/>
          <p:cNvSpPr/>
          <p:nvPr/>
        </p:nvSpPr>
        <p:spPr>
          <a:xfrm>
            <a:off x="1373386" y="3437930"/>
            <a:ext cx="6397228" cy="14288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2"/>
          <p:cNvSpPr/>
          <p:nvPr/>
        </p:nvSpPr>
        <p:spPr>
          <a:xfrm>
            <a:off x="249790" y="973131"/>
            <a:ext cx="8742894" cy="949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862" b="1" kern="0" spc="2" dirty="0" err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Criando</a:t>
            </a:r>
            <a:r>
              <a:rPr lang="en-US" sz="2862" b="1" kern="0" spc="2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r>
              <a:rPr lang="en-US" sz="2862" b="1" kern="0" spc="2" dirty="0" err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multiplos</a:t>
            </a:r>
            <a:r>
              <a:rPr lang="en-US" sz="2862" b="1" kern="0" spc="2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r>
              <a:rPr lang="en-US" sz="2862" b="1" kern="0" spc="2" dirty="0" err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agentes</a:t>
            </a:r>
            <a:r>
              <a:rPr lang="en-US" sz="2862" b="1" kern="0" spc="2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r>
              <a:rPr lang="en-US" sz="2862" b="1" kern="0" spc="2" dirty="0" err="1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usando</a:t>
            </a:r>
            <a:r>
              <a:rPr lang="en-US" sz="2862" b="1" kern="0" spc="2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Agent Framework </a:t>
            </a:r>
          </a:p>
          <a:p>
            <a:pPr marL="0" indent="0" algn="ctr">
              <a:lnSpc>
                <a:spcPts val="3800"/>
              </a:lnSpc>
              <a:buNone/>
            </a:pPr>
            <a:r>
              <a:rPr lang="en-US" sz="2862" b="1" kern="0" spc="2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 Ai Foundry</a:t>
            </a:r>
            <a:endParaRPr lang="en-US" sz="2862" dirty="0"/>
          </a:p>
        </p:txBody>
      </p:sp>
      <p:sp>
        <p:nvSpPr>
          <p:cNvPr id="7" name="Text 3"/>
          <p:cNvSpPr/>
          <p:nvPr/>
        </p:nvSpPr>
        <p:spPr>
          <a:xfrm>
            <a:off x="1373386" y="4239816"/>
            <a:ext cx="639722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Azure 2026 | Community for Community</a:t>
            </a:r>
            <a:endParaRPr lang="en-US" sz="1193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59FAAA5-ECB2-51C6-8FAE-B27AC85B5341}"/>
              </a:ext>
            </a:extLst>
          </p:cNvPr>
          <p:cNvSpPr/>
          <p:nvPr/>
        </p:nvSpPr>
        <p:spPr>
          <a:xfrm>
            <a:off x="4058529" y="914400"/>
            <a:ext cx="1026942" cy="140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BB7F0D4-6FB8-92D3-812D-DFBC29ABB61E}"/>
              </a:ext>
            </a:extLst>
          </p:cNvPr>
          <p:cNvSpPr txBox="1"/>
          <p:nvPr/>
        </p:nvSpPr>
        <p:spPr>
          <a:xfrm>
            <a:off x="4107766" y="857066"/>
            <a:ext cx="10269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solidFill>
                  <a:schemeClr val="bg1"/>
                </a:solidFill>
                <a:latin typeface="Arial Black" panose="020B0A04020102020204" pitchFamily="34" charset="0"/>
              </a:rPr>
              <a:t>Brasil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3DA63126-46E7-792A-B3DA-326401771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210368" cy="5180832"/>
          </a:xfrm>
          <a:prstGeom prst="rect">
            <a:avLst/>
          </a:prstGeom>
        </p:spPr>
      </p:pic>
      <p:sp>
        <p:nvSpPr>
          <p:cNvPr id="7" name="Pgina 02"/>
          <p:cNvSpPr/>
          <p:nvPr/>
        </p:nvSpPr>
        <p:spPr>
          <a:xfrm>
            <a:off x="381000" y="4591050"/>
            <a:ext cx="651934" cy="242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23">
              <a:lnSpc>
                <a:spcPct val="125000"/>
              </a:lnSpc>
            </a:pPr>
            <a:r>
              <a:rPr lang="en-US" sz="9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Página 04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wwwmvpconfcombr"/>
          <p:cNvSpPr/>
          <p:nvPr/>
        </p:nvSpPr>
        <p:spPr>
          <a:xfrm>
            <a:off x="7247071" y="4269151"/>
            <a:ext cx="12673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23">
              <a:lnSpc>
                <a:spcPct val="125000"/>
              </a:lnSpc>
            </a:pPr>
            <a:r>
              <a:rPr lang="en-US" sz="1050" dirty="0">
                <a:solidFill>
                  <a:schemeClr val="bg1"/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www.nizzola.com.br</a:t>
            </a:r>
            <a:endParaRPr lang="en-US" sz="1050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10" name="Pessoas em Primeiro Lugar"/>
          <p:cNvSpPr/>
          <p:nvPr/>
        </p:nvSpPr>
        <p:spPr>
          <a:xfrm>
            <a:off x="275931" y="698477"/>
            <a:ext cx="2300609" cy="1321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685835"/>
            <a:r>
              <a:rPr lang="pt-BR" sz="4400" dirty="0">
                <a:solidFill>
                  <a:schemeClr val="bg1"/>
                </a:solidFill>
                <a:latin typeface="Aptos Display" panose="02110004020202020204"/>
              </a:rPr>
              <a:t>Márcio R. Nizzola</a:t>
            </a:r>
          </a:p>
        </p:txBody>
      </p:sp>
      <p:sp>
        <p:nvSpPr>
          <p:cNvPr id="11" name="Tecnologia  o meio Pessoas so o fim"/>
          <p:cNvSpPr/>
          <p:nvPr/>
        </p:nvSpPr>
        <p:spPr>
          <a:xfrm>
            <a:off x="381000" y="2718631"/>
            <a:ext cx="313372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35">
              <a:spcBef>
                <a:spcPts val="750"/>
              </a:spcBef>
            </a:pPr>
            <a:r>
              <a:rPr lang="pt-BR" sz="1400" dirty="0">
                <a:solidFill>
                  <a:schemeClr val="bg1"/>
                </a:solidFill>
                <a:latin typeface="Aptos" panose="02110004020202020204"/>
              </a:rPr>
              <a:t>www.linkedin.com/in/nizzola</a:t>
            </a:r>
          </a:p>
          <a:p>
            <a:pPr defTabSz="685835">
              <a:spcBef>
                <a:spcPts val="750"/>
              </a:spcBef>
            </a:pPr>
            <a:r>
              <a:rPr lang="pt-BR" sz="1400" dirty="0">
                <a:solidFill>
                  <a:schemeClr val="bg1"/>
                </a:solidFill>
                <a:latin typeface="Aptos" panose="02110004020202020204"/>
              </a:rPr>
              <a:t>marcionizzola.medium.com</a:t>
            </a:r>
          </a:p>
          <a:p>
            <a:pPr defTabSz="685835">
              <a:spcBef>
                <a:spcPts val="750"/>
              </a:spcBef>
            </a:pPr>
            <a:r>
              <a:rPr lang="pt-BR" sz="1400" dirty="0">
                <a:solidFill>
                  <a:schemeClr val="bg1"/>
                </a:solidFill>
                <a:latin typeface="Aptos" panose="02110004020202020204"/>
              </a:rPr>
              <a:t>https://linktree.com/nizzola</a:t>
            </a:r>
          </a:p>
          <a:p>
            <a:pPr defTabSz="685835">
              <a:spcBef>
                <a:spcPts val="750"/>
              </a:spcBef>
            </a:pPr>
            <a:r>
              <a:rPr lang="pt-BR" sz="1400" dirty="0">
                <a:solidFill>
                  <a:schemeClr val="bg1"/>
                </a:solidFill>
                <a:latin typeface="Aptos" panose="02110004020202020204"/>
              </a:rPr>
              <a:t>@nizzola.dev</a:t>
            </a:r>
          </a:p>
          <a:p>
            <a:pPr defTabSz="457223">
              <a:lnSpc>
                <a:spcPct val="125000"/>
              </a:lnSpc>
              <a:spcAft>
                <a:spcPts val="1178"/>
              </a:spcAft>
            </a:pPr>
            <a:endParaRPr lang="en-US" sz="1276" dirty="0">
              <a:solidFill>
                <a:prstClr val="black"/>
              </a:solidFill>
              <a:latin typeface="Maven Pro Medium" pitchFamily="2" charset="77"/>
            </a:endParaRP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ACD0BD06-0A10-1692-DA81-5A72742F6ECF}"/>
              </a:ext>
            </a:extLst>
          </p:cNvPr>
          <p:cNvSpPr txBox="1">
            <a:spLocks/>
          </p:cNvSpPr>
          <p:nvPr/>
        </p:nvSpPr>
        <p:spPr>
          <a:xfrm>
            <a:off x="2819467" y="1051976"/>
            <a:ext cx="3786029" cy="308610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35">
              <a:buNone/>
            </a:pPr>
            <a:r>
              <a:rPr lang="pt-BR" sz="1650" dirty="0">
                <a:solidFill>
                  <a:schemeClr val="bg1"/>
                </a:solidFill>
                <a:latin typeface="Aptos" panose="02110004020202020204"/>
              </a:rPr>
              <a:t>4x MVP Microsoft  - </a:t>
            </a:r>
            <a:r>
              <a:rPr lang="pt-BR" sz="1650" dirty="0" err="1">
                <a:solidFill>
                  <a:schemeClr val="bg1"/>
                </a:solidFill>
                <a:latin typeface="Aptos" panose="02110004020202020204"/>
              </a:rPr>
              <a:t>Developers</a:t>
            </a:r>
            <a:r>
              <a:rPr lang="pt-BR" sz="1650" dirty="0">
                <a:solidFill>
                  <a:schemeClr val="bg1"/>
                </a:solidFill>
                <a:latin typeface="Aptos" panose="02110004020202020204"/>
              </a:rPr>
              <a:t> Technologies</a:t>
            </a:r>
          </a:p>
          <a:p>
            <a:pPr marL="0" indent="0" defTabSz="685835">
              <a:buNone/>
            </a:pPr>
            <a:r>
              <a:rPr lang="pt-BR" sz="1650" dirty="0">
                <a:solidFill>
                  <a:schemeClr val="bg1"/>
                </a:solidFill>
                <a:latin typeface="Aptos" panose="02110004020202020204"/>
              </a:rPr>
              <a:t>Principal Architect na CI&amp;T</a:t>
            </a:r>
          </a:p>
          <a:p>
            <a:pPr marL="0" indent="0" defTabSz="685835">
              <a:buNone/>
            </a:pPr>
            <a:r>
              <a:rPr lang="pt-BR" sz="1650" dirty="0">
                <a:solidFill>
                  <a:schemeClr val="bg1"/>
                </a:solidFill>
                <a:latin typeface="Aptos" panose="02110004020202020204"/>
              </a:rPr>
              <a:t>Professor na </a:t>
            </a:r>
            <a:r>
              <a:rPr lang="pt-BR" sz="1650" dirty="0" err="1">
                <a:solidFill>
                  <a:schemeClr val="bg1"/>
                </a:solidFill>
                <a:latin typeface="Aptos" panose="02110004020202020204"/>
              </a:rPr>
              <a:t>Etec</a:t>
            </a:r>
            <a:r>
              <a:rPr lang="pt-BR" sz="1650" dirty="0">
                <a:solidFill>
                  <a:schemeClr val="bg1"/>
                </a:solidFill>
                <a:latin typeface="Aptos" panose="02110004020202020204"/>
              </a:rPr>
              <a:t> de Itu</a:t>
            </a:r>
          </a:p>
          <a:p>
            <a:pPr marL="0" indent="0" defTabSz="685835">
              <a:buNone/>
            </a:pPr>
            <a:r>
              <a:rPr lang="pt-BR" sz="1650" dirty="0">
                <a:solidFill>
                  <a:schemeClr val="bg1"/>
                </a:solidFill>
                <a:latin typeface="Aptos" panose="02110004020202020204"/>
              </a:rPr>
              <a:t>Fundador do </a:t>
            </a:r>
            <a:r>
              <a:rPr lang="pt-BR" sz="1650" dirty="0" err="1">
                <a:solidFill>
                  <a:schemeClr val="bg1"/>
                </a:solidFill>
                <a:latin typeface="Aptos" panose="02110004020202020204"/>
              </a:rPr>
              <a:t>Meetup</a:t>
            </a:r>
            <a:r>
              <a:rPr lang="pt-BR" sz="1650" dirty="0">
                <a:solidFill>
                  <a:schemeClr val="bg1"/>
                </a:solidFill>
                <a:latin typeface="Aptos" panose="02110004020202020204"/>
              </a:rPr>
              <a:t> Itu </a:t>
            </a:r>
            <a:r>
              <a:rPr lang="pt-BR" sz="1650" dirty="0" err="1">
                <a:solidFill>
                  <a:schemeClr val="bg1"/>
                </a:solidFill>
                <a:latin typeface="Aptos" panose="02110004020202020204"/>
              </a:rPr>
              <a:t>Developers</a:t>
            </a:r>
            <a:endParaRPr lang="pt-BR" sz="1650" dirty="0">
              <a:solidFill>
                <a:schemeClr val="bg1"/>
              </a:solidFill>
              <a:latin typeface="Aptos" panose="02110004020202020204"/>
            </a:endParaRPr>
          </a:p>
          <a:p>
            <a:pPr marL="0" indent="0" defTabSz="685835">
              <a:buNone/>
            </a:pPr>
            <a:endParaRPr lang="pt-BR" sz="1650" dirty="0">
              <a:solidFill>
                <a:schemeClr val="bg1"/>
              </a:solidFill>
              <a:latin typeface="Aptos" panose="02110004020202020204"/>
            </a:endParaRPr>
          </a:p>
          <a:p>
            <a:pPr marL="0" indent="0" defTabSz="685835">
              <a:buNone/>
            </a:pPr>
            <a:r>
              <a:rPr lang="pt-BR" sz="1650" dirty="0">
                <a:solidFill>
                  <a:schemeClr val="bg1"/>
                </a:solidFill>
                <a:latin typeface="Aptos" panose="02110004020202020204"/>
              </a:rPr>
              <a:t>Estudando programação a partir de 1989</a:t>
            </a:r>
          </a:p>
          <a:p>
            <a:pPr marL="0" indent="0" defTabSz="685835">
              <a:buNone/>
            </a:pPr>
            <a:r>
              <a:rPr lang="pt-BR" sz="1650" dirty="0">
                <a:solidFill>
                  <a:schemeClr val="bg1"/>
                </a:solidFill>
                <a:latin typeface="Aptos" panose="02110004020202020204"/>
              </a:rPr>
              <a:t>Vivendo de software desde 1992</a:t>
            </a:r>
          </a:p>
          <a:p>
            <a:pPr marL="0" indent="0" defTabSz="685835">
              <a:buNone/>
            </a:pPr>
            <a:endParaRPr lang="pt-BR" sz="1650" dirty="0">
              <a:solidFill>
                <a:schemeClr val="bg1"/>
              </a:solidFill>
              <a:latin typeface="Aptos" panose="02110004020202020204"/>
            </a:endParaRPr>
          </a:p>
          <a:p>
            <a:pPr marL="0" indent="0" defTabSz="685835">
              <a:buNone/>
            </a:pPr>
            <a:r>
              <a:rPr lang="pt-BR" sz="1650" dirty="0">
                <a:solidFill>
                  <a:schemeClr val="bg1"/>
                </a:solidFill>
                <a:latin typeface="Aptos" panose="02110004020202020204"/>
              </a:rPr>
              <a:t>Principais tecnologias: C#, Python,  IA, Javascript, Angular, </a:t>
            </a:r>
            <a:r>
              <a:rPr lang="pt-BR" sz="1650" dirty="0" err="1">
                <a:solidFill>
                  <a:schemeClr val="bg1"/>
                </a:solidFill>
                <a:latin typeface="Aptos" panose="02110004020202020204"/>
              </a:rPr>
              <a:t>React</a:t>
            </a:r>
            <a:r>
              <a:rPr lang="pt-BR" sz="1650" dirty="0">
                <a:solidFill>
                  <a:schemeClr val="bg1"/>
                </a:solidFill>
                <a:latin typeface="Aptos" panose="02110004020202020204"/>
              </a:rPr>
              <a:t>, Azure, </a:t>
            </a:r>
            <a:r>
              <a:rPr lang="pt-BR" sz="1650" dirty="0" err="1">
                <a:solidFill>
                  <a:schemeClr val="bg1"/>
                </a:solidFill>
                <a:latin typeface="Aptos" panose="02110004020202020204"/>
              </a:rPr>
              <a:t>Aws</a:t>
            </a:r>
            <a:r>
              <a:rPr lang="pt-BR" sz="1650" dirty="0">
                <a:solidFill>
                  <a:schemeClr val="bg1"/>
                </a:solidFill>
                <a:latin typeface="Aptos" panose="02110004020202020204"/>
              </a:rPr>
              <a:t>, </a:t>
            </a:r>
            <a:r>
              <a:rPr lang="pt-BR" sz="1650" dirty="0" err="1">
                <a:solidFill>
                  <a:schemeClr val="bg1"/>
                </a:solidFill>
                <a:latin typeface="Aptos" panose="02110004020202020204"/>
              </a:rPr>
              <a:t>Php</a:t>
            </a:r>
            <a:r>
              <a:rPr lang="pt-BR" sz="1650" dirty="0">
                <a:solidFill>
                  <a:schemeClr val="bg1"/>
                </a:solidFill>
                <a:latin typeface="Aptos" panose="02110004020202020204"/>
              </a:rPr>
              <a:t>, </a:t>
            </a:r>
            <a:r>
              <a:rPr lang="pt-BR" sz="1650" dirty="0" err="1">
                <a:solidFill>
                  <a:schemeClr val="bg1"/>
                </a:solidFill>
                <a:latin typeface="Aptos" panose="02110004020202020204"/>
              </a:rPr>
              <a:t>Vb</a:t>
            </a:r>
            <a:endParaRPr lang="pt-BR" sz="1650" dirty="0">
              <a:solidFill>
                <a:schemeClr val="bg1"/>
              </a:solidFill>
              <a:latin typeface="Aptos" panose="02110004020202020204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A8F7F47-6D5E-F6BB-1FBA-E5D1CD2BB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460" y="1051100"/>
            <a:ext cx="2300609" cy="3193702"/>
          </a:xfrm>
          <a:prstGeom prst="rect">
            <a:avLst/>
          </a:prstGeom>
        </p:spPr>
      </p:pic>
      <p:pic>
        <p:nvPicPr>
          <p:cNvPr id="13" name="Picture 8" descr="Microsoft MVP Logo - LogoDix">
            <a:extLst>
              <a:ext uri="{FF2B5EF4-FFF2-40B4-BE49-F238E27FC236}">
                <a16:creationId xmlns:a16="http://schemas.microsoft.com/office/drawing/2014/main" id="{3B37EDC9-7208-9481-EA02-5EBFE53F87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931" y="3930212"/>
            <a:ext cx="2300609" cy="1051911"/>
          </a:xfrm>
          <a:prstGeom prst="rect">
            <a:avLst/>
          </a:prstGeom>
        </p:spPr>
      </p:pic>
      <p:pic>
        <p:nvPicPr>
          <p:cNvPr id="1026" name="Picture 2" descr="CI&amp;T | Technology Transformation Specialists">
            <a:extLst>
              <a:ext uri="{FF2B5EF4-FFF2-40B4-BE49-F238E27FC236}">
                <a16:creationId xmlns:a16="http://schemas.microsoft.com/office/drawing/2014/main" id="{42D709F6-AD11-04AA-A681-273B465BF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0976" y="4460081"/>
            <a:ext cx="1351350" cy="433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240DC141-F8BE-2437-0FCD-8569A2A853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1" y="4414517"/>
            <a:ext cx="1653881" cy="4789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6D204-06EF-B355-CFB4-5E1473C70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2CF8F88-5310-0568-35C5-BEA7134DB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E3EDAACC-0CA9-5417-BAB6-1409FE938CEA}"/>
              </a:ext>
            </a:extLst>
          </p:cNvPr>
          <p:cNvSpPr/>
          <p:nvPr/>
        </p:nvSpPr>
        <p:spPr>
          <a:xfrm>
            <a:off x="5660032" y="4591050"/>
            <a:ext cx="12673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23">
              <a:lnSpc>
                <a:spcPct val="125000"/>
              </a:lnSpc>
            </a:pPr>
            <a:r>
              <a:rPr lang="en-US" sz="900" dirty="0">
                <a:solidFill>
                  <a:schemeClr val="bg1"/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www.nizzola.com.br</a:t>
            </a:r>
            <a:endParaRPr lang="en-US" sz="900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4" name="Título 2">
            <a:extLst>
              <a:ext uri="{FF2B5EF4-FFF2-40B4-BE49-F238E27FC236}">
                <a16:creationId xmlns:a16="http://schemas.microsoft.com/office/drawing/2014/main" id="{C22A53AC-BD25-9356-9B30-B367D3773030}"/>
              </a:ext>
            </a:extLst>
          </p:cNvPr>
          <p:cNvSpPr txBox="1">
            <a:spLocks/>
          </p:cNvSpPr>
          <p:nvPr/>
        </p:nvSpPr>
        <p:spPr>
          <a:xfrm>
            <a:off x="381000" y="569846"/>
            <a:ext cx="8382000" cy="749808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223"/>
            <a:endParaRPr lang="pt-BR" sz="2400" spc="-150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14" name="Pessoas em Primeiro Lugar">
            <a:extLst>
              <a:ext uri="{FF2B5EF4-FFF2-40B4-BE49-F238E27FC236}">
                <a16:creationId xmlns:a16="http://schemas.microsoft.com/office/drawing/2014/main" id="{2ABD0D89-CA0E-BC9F-18F2-CD7427FF0000}"/>
              </a:ext>
            </a:extLst>
          </p:cNvPr>
          <p:cNvSpPr/>
          <p:nvPr/>
        </p:nvSpPr>
        <p:spPr>
          <a:xfrm>
            <a:off x="434009" y="685800"/>
            <a:ext cx="8047383" cy="1321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23">
              <a:lnSpc>
                <a:spcPct val="95833"/>
              </a:lnSpc>
              <a:spcAft>
                <a:spcPts val="4012"/>
              </a:spcAft>
            </a:pPr>
            <a:r>
              <a:rPr lang="en-US" sz="2400" dirty="0" err="1">
                <a:solidFill>
                  <a:schemeClr val="bg1"/>
                </a:solidFill>
                <a:latin typeface="Maven Pro Regular" pitchFamily="34" charset="0"/>
                <a:cs typeface="Maven Pro Regular" pitchFamily="34" charset="-120"/>
              </a:rPr>
              <a:t>Comunidade</a:t>
            </a:r>
            <a:endParaRPr lang="en-US" sz="2400" dirty="0">
              <a:solidFill>
                <a:schemeClr val="bg1"/>
              </a:solidFill>
              <a:latin typeface="Calibri" panose="020F0502020204030204"/>
            </a:endParaRPr>
          </a:p>
        </p:txBody>
      </p:sp>
      <p:pic>
        <p:nvPicPr>
          <p:cNvPr id="11" name="Picture 4" descr="A group of people posing for the camera&#10;&#10;Description automatically generated">
            <a:extLst>
              <a:ext uri="{FF2B5EF4-FFF2-40B4-BE49-F238E27FC236}">
                <a16:creationId xmlns:a16="http://schemas.microsoft.com/office/drawing/2014/main" id="{65D324FD-98E7-8631-6081-F6BF06655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452" y="1151416"/>
            <a:ext cx="4128070" cy="2167236"/>
          </a:xfrm>
          <a:prstGeom prst="rect">
            <a:avLst/>
          </a:prstGeom>
        </p:spPr>
      </p:pic>
      <p:pic>
        <p:nvPicPr>
          <p:cNvPr id="12" name="Picture 7" descr="A picture containing plate, drawing, food&#10;&#10;Description automatically generated">
            <a:extLst>
              <a:ext uri="{FF2B5EF4-FFF2-40B4-BE49-F238E27FC236}">
                <a16:creationId xmlns:a16="http://schemas.microsoft.com/office/drawing/2014/main" id="{4E357EC7-BF89-1D41-2041-F501F10828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8001" y="4279253"/>
            <a:ext cx="2567860" cy="545670"/>
          </a:xfrm>
          <a:prstGeom prst="rect">
            <a:avLst/>
          </a:prstGeom>
        </p:spPr>
      </p:pic>
      <p:sp>
        <p:nvSpPr>
          <p:cNvPr id="13" name="Title 5">
            <a:extLst>
              <a:ext uri="{FF2B5EF4-FFF2-40B4-BE49-F238E27FC236}">
                <a16:creationId xmlns:a16="http://schemas.microsoft.com/office/drawing/2014/main" id="{26D10072-0763-003C-D384-2204E5805D9C}"/>
              </a:ext>
            </a:extLst>
          </p:cNvPr>
          <p:cNvSpPr txBox="1">
            <a:spLocks/>
          </p:cNvSpPr>
          <p:nvPr/>
        </p:nvSpPr>
        <p:spPr>
          <a:xfrm>
            <a:off x="381001" y="3550401"/>
            <a:ext cx="4190999" cy="723782"/>
          </a:xfrm>
          <a:prstGeom prst="rect">
            <a:avLst/>
          </a:prstGeom>
        </p:spPr>
        <p:txBody>
          <a:bodyPr vert="horz" lIns="45720" tIns="22860" rIns="45720" bIns="2286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223"/>
            <a:r>
              <a:rPr lang="en-US" sz="1400" b="1" dirty="0" err="1">
                <a:solidFill>
                  <a:schemeClr val="bg1"/>
                </a:solidFill>
                <a:latin typeface="Calibri Light" panose="020F0302020204030204"/>
              </a:rPr>
              <a:t>Membro</a:t>
            </a:r>
            <a:r>
              <a:rPr lang="en-US" sz="1400" b="1" dirty="0">
                <a:solidFill>
                  <a:schemeClr val="bg1"/>
                </a:solidFill>
                <a:latin typeface="Calibri Light" panose="020F0302020204030204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Calibri Light" panose="020F0302020204030204"/>
              </a:rPr>
              <a:t>fundador</a:t>
            </a:r>
            <a:br>
              <a:rPr lang="en-US" sz="1400" b="1" dirty="0">
                <a:solidFill>
                  <a:schemeClr val="bg1"/>
                </a:solidFill>
                <a:latin typeface="Calibri Light" panose="020F0302020204030204"/>
              </a:rPr>
            </a:br>
            <a:r>
              <a:rPr lang="en-US" sz="1400" b="1" dirty="0" err="1">
                <a:solidFill>
                  <a:schemeClr val="bg1"/>
                </a:solidFill>
                <a:latin typeface="Calibri Light" panose="020F0302020204030204"/>
              </a:rPr>
              <a:t>Comunidade</a:t>
            </a:r>
            <a:r>
              <a:rPr lang="en-US" sz="1400" b="1" dirty="0">
                <a:solidFill>
                  <a:schemeClr val="bg1"/>
                </a:solidFill>
                <a:latin typeface="Calibri Light" panose="020F0302020204030204"/>
              </a:rPr>
              <a:t> com 5 </a:t>
            </a:r>
            <a:r>
              <a:rPr lang="en-US" sz="1400" b="1" dirty="0" err="1">
                <a:solidFill>
                  <a:schemeClr val="bg1"/>
                </a:solidFill>
                <a:latin typeface="Calibri Light" panose="020F0302020204030204"/>
              </a:rPr>
              <a:t>anos</a:t>
            </a:r>
            <a:r>
              <a:rPr lang="en-US" sz="1400" b="1" dirty="0">
                <a:solidFill>
                  <a:schemeClr val="bg1"/>
                </a:solidFill>
                <a:latin typeface="Calibri Light" panose="020F0302020204030204"/>
              </a:rPr>
              <a:t> </a:t>
            </a:r>
            <a:r>
              <a:rPr lang="en-US" sz="1400" b="1" dirty="0" err="1">
                <a:solidFill>
                  <a:schemeClr val="bg1"/>
                </a:solidFill>
                <a:latin typeface="Calibri Light" panose="020F0302020204030204"/>
              </a:rPr>
              <a:t>já</a:t>
            </a:r>
            <a:r>
              <a:rPr lang="en-US" sz="1400" b="1" dirty="0">
                <a:solidFill>
                  <a:schemeClr val="bg1"/>
                </a:solidFill>
                <a:latin typeface="Calibri Light" panose="020F0302020204030204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Calibri Light" panose="020F0302020204030204"/>
              </a:rPr>
              <a:t>organizou</a:t>
            </a:r>
            <a:r>
              <a:rPr lang="en-US" sz="1400" b="1" dirty="0">
                <a:solidFill>
                  <a:schemeClr val="bg1"/>
                </a:solidFill>
                <a:latin typeface="Calibri Light" panose="020F0302020204030204"/>
              </a:rPr>
              <a:t> 12 Meetups, Palestras e Lives (</a:t>
            </a:r>
            <a:r>
              <a:rPr lang="en-US" sz="1400" b="1" dirty="0" err="1">
                <a:solidFill>
                  <a:schemeClr val="bg1"/>
                </a:solidFill>
                <a:latin typeface="Calibri Light" panose="020F0302020204030204"/>
              </a:rPr>
              <a:t>TechChat</a:t>
            </a:r>
            <a:r>
              <a:rPr lang="en-US" sz="1400" b="1" dirty="0">
                <a:solidFill>
                  <a:schemeClr val="bg1"/>
                </a:solidFill>
                <a:latin typeface="Calibri Light" panose="020F0302020204030204"/>
              </a:rPr>
              <a:t>).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3E4E53E-72B9-169E-47F1-942180F22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0802" y="1162238"/>
            <a:ext cx="2729132" cy="3411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tângulo 15">
            <a:extLst>
              <a:ext uri="{FF2B5EF4-FFF2-40B4-BE49-F238E27FC236}">
                <a16:creationId xmlns:a16="http://schemas.microsoft.com/office/drawing/2014/main" id="{7A497DBD-38AA-B0F2-CC37-19559FFC4154}"/>
              </a:ext>
            </a:extLst>
          </p:cNvPr>
          <p:cNvSpPr/>
          <p:nvPr/>
        </p:nvSpPr>
        <p:spPr>
          <a:xfrm>
            <a:off x="2883878" y="2963008"/>
            <a:ext cx="1468315" cy="3556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23"/>
            <a:endParaRPr lang="pt-BR" sz="9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5" name="Picture 7" descr="A picture containing plate, drawing, food&#10;&#10;Description automatically generated">
            <a:extLst>
              <a:ext uri="{FF2B5EF4-FFF2-40B4-BE49-F238E27FC236}">
                <a16:creationId xmlns:a16="http://schemas.microsoft.com/office/drawing/2014/main" id="{F6E2AE30-1A1B-4C93-E9B7-E55AE031B9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0541" y="3006511"/>
            <a:ext cx="1264937" cy="26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07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3DB25D-7C42-39C5-59D1-ED3AEE3CB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352ECAF-291B-4A83-57DD-A5DACBA42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050" name="Picture 2" descr="What is Azure AI Foundry? Everything You Need to Know in 2025 - Empathy ...">
            <a:extLst>
              <a:ext uri="{FF2B5EF4-FFF2-40B4-BE49-F238E27FC236}">
                <a16:creationId xmlns:a16="http://schemas.microsoft.com/office/drawing/2014/main" id="{7BB5510C-8BB6-8905-3375-1871C4E96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3" y="0"/>
            <a:ext cx="9096375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655103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7FFA10-1DC8-A342-D98F-4F8D52982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4AEDDE2-2F11-3613-A350-0FC832E2E2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122" name="Picture 2" descr="Azure AI Foundrt Architecture">
            <a:extLst>
              <a:ext uri="{FF2B5EF4-FFF2-40B4-BE49-F238E27FC236}">
                <a16:creationId xmlns:a16="http://schemas.microsoft.com/office/drawing/2014/main" id="{5E4A0E90-4C09-F752-FBDD-52E4A8025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9762"/>
            <a:ext cx="9144000" cy="3995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189439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AE8E8B-3963-154F-77E8-972342B4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ADCCDAF-5299-610B-C652-48EE1B89A1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074" name="Picture 2" descr="Introduction to Azure AI Foundry - Optaex">
            <a:extLst>
              <a:ext uri="{FF2B5EF4-FFF2-40B4-BE49-F238E27FC236}">
                <a16:creationId xmlns:a16="http://schemas.microsoft.com/office/drawing/2014/main" id="{57E2471E-BB3D-8349-6512-B7F49FFF65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325" y="0"/>
            <a:ext cx="699135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1B93D1B9-127B-ED2D-5478-14FBC7CBE3A1}"/>
              </a:ext>
            </a:extLst>
          </p:cNvPr>
          <p:cNvSpPr/>
          <p:nvPr/>
        </p:nvSpPr>
        <p:spPr>
          <a:xfrm>
            <a:off x="7021524" y="3951276"/>
            <a:ext cx="1046151" cy="119222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70573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DD3087-4603-A2ED-E055-85C534FCB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416ED2C-3C5E-BDAC-78FA-EA0E9D6228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100" name="Picture 4" descr="Azure AI Foundry Agent Service GA Introduces Multi-Agent Orchestration ...">
            <a:extLst>
              <a:ext uri="{FF2B5EF4-FFF2-40B4-BE49-F238E27FC236}">
                <a16:creationId xmlns:a16="http://schemas.microsoft.com/office/drawing/2014/main" id="{AB347AB6-0614-938C-5906-92F6B8BE6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0"/>
            <a:ext cx="81788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049037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03D10F-1D0B-2C02-BCD1-F26D89CFF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91AD366-57D6-662D-CB02-22CD613AC5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Entrando no Portal do </a:t>
            </a:r>
            <a:r>
              <a:rPr lang="pt-BR" dirty="0" err="1"/>
              <a:t>Foundry</a:t>
            </a:r>
            <a:endParaRPr lang="pt-BR" dirty="0"/>
          </a:p>
          <a:p>
            <a:endParaRPr lang="pt-BR" dirty="0"/>
          </a:p>
          <a:p>
            <a:r>
              <a:rPr lang="pt-BR" dirty="0"/>
              <a:t>portal.azure.com</a:t>
            </a:r>
          </a:p>
        </p:txBody>
      </p:sp>
      <p:pic>
        <p:nvPicPr>
          <p:cNvPr id="8194" name="Picture 2" descr="Azure AI Foundry - Building generative AI applications">
            <a:extLst>
              <a:ext uri="{FF2B5EF4-FFF2-40B4-BE49-F238E27FC236}">
                <a16:creationId xmlns:a16="http://schemas.microsoft.com/office/drawing/2014/main" id="{398A8587-DB14-C648-460D-5798EC21C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945" y="2347316"/>
            <a:ext cx="2356363" cy="1810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27597F2D-22E3-CB73-B6DE-CCF9C670B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795" y="2889116"/>
            <a:ext cx="3657600" cy="1054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498920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832F4-9A21-136F-F85E-3572E6CFD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4C2461B-5C77-B69E-1675-C62738B4B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996C64AE-4F02-1E0B-EDED-5E55246F3409}"/>
              </a:ext>
            </a:extLst>
          </p:cNvPr>
          <p:cNvSpPr/>
          <p:nvPr/>
        </p:nvSpPr>
        <p:spPr>
          <a:xfrm>
            <a:off x="571500" y="903517"/>
            <a:ext cx="6429375" cy="3336466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C533880-B2E0-E8AE-11A7-858BEC2FC0F2}"/>
              </a:ext>
            </a:extLst>
          </p:cNvPr>
          <p:cNvSpPr/>
          <p:nvPr/>
        </p:nvSpPr>
        <p:spPr>
          <a:xfrm>
            <a:off x="1000125" y="1339286"/>
            <a:ext cx="5572125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Microsoft Agent Framework</a:t>
            </a:r>
            <a:endParaRPr lang="en-US" sz="3294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EC5E6E7-2697-28FA-1875-1B69FC1168E2}"/>
              </a:ext>
            </a:extLst>
          </p:cNvPr>
          <p:cNvSpPr/>
          <p:nvPr/>
        </p:nvSpPr>
        <p:spPr>
          <a:xfrm>
            <a:off x="1000125" y="2516553"/>
            <a:ext cx="5572125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Evolução Unificada de Semantic Kernel e AutoGen</a:t>
            </a:r>
            <a:endParaRPr lang="en-US" sz="1602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7A43784E-03FE-7A0B-3EED-5F6360095B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3662232"/>
            <a:ext cx="128588" cy="128588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58A25A1D-07C8-88F0-E477-F96D8A6F48E1}"/>
              </a:ext>
            </a:extLst>
          </p:cNvPr>
          <p:cNvSpPr/>
          <p:nvPr/>
        </p:nvSpPr>
        <p:spPr>
          <a:xfrm>
            <a:off x="1214438" y="3648838"/>
            <a:ext cx="111799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Azure 2026</a:t>
            </a:r>
            <a:endParaRPr lang="en-US" sz="942" dirty="0"/>
          </a:p>
        </p:txBody>
      </p:sp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031AA82D-E0A0-8D94-E9E5-0383EBD5A0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8184" y="3662232"/>
            <a:ext cx="160734" cy="128588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3A3E0E19-BFFA-6D2C-1BA9-50D6EAD97744}"/>
              </a:ext>
            </a:extLst>
          </p:cNvPr>
          <p:cNvSpPr/>
          <p:nvPr/>
        </p:nvSpPr>
        <p:spPr>
          <a:xfrm>
            <a:off x="2864644" y="3648838"/>
            <a:ext cx="190202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Community · For Community</a:t>
            </a:r>
            <a:endParaRPr lang="en-US" sz="942" dirty="0"/>
          </a:p>
        </p:txBody>
      </p:sp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D012059D-425B-6C30-48DF-0751E6E914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2417" y="3662232"/>
            <a:ext cx="160734" cy="128588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3C860114-EA28-70E8-95EA-341A6D83C77C}"/>
              </a:ext>
            </a:extLst>
          </p:cNvPr>
          <p:cNvSpPr/>
          <p:nvPr/>
        </p:nvSpPr>
        <p:spPr>
          <a:xfrm>
            <a:off x="5298877" y="3648838"/>
            <a:ext cx="9554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AI Agents</a:t>
            </a:r>
            <a:endParaRPr lang="en-US" sz="942" dirty="0"/>
          </a:p>
        </p:txBody>
      </p:sp>
    </p:spTree>
    <p:extLst>
      <p:ext uri="{BB962C8B-B14F-4D97-AF65-F5344CB8AC3E}">
        <p14:creationId xmlns:p14="http://schemas.microsoft.com/office/powerpoint/2010/main" val="1996850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001000" cy="10161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1009055"/>
            <a:ext cx="8001000" cy="714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Por Que um Novo Framework?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294805"/>
            <a:ext cx="8001000" cy="1085850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571500" y="1294805"/>
            <a:ext cx="1785938" cy="1071563"/>
          </a:xfrm>
          <a:prstGeom prst="rect">
            <a:avLst/>
          </a:pr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2350294" y="1294805"/>
            <a:ext cx="7144" cy="1071563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571500" y="1294805"/>
            <a:ext cx="1785938" cy="107156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Semantic Kernel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2357438" y="1294805"/>
            <a:ext cx="6215063" cy="1071563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Construído originalmente para integrar LLMs em apps convencionais (Kernel/Plugins). O conceito de </a:t>
            </a:r>
            <a:r>
              <a:rPr lang="en-US" sz="987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"agente" foi adicionado depois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(retrofitted) sobre primitivas de orquestração.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71500" y="2580680"/>
            <a:ext cx="8001000" cy="87153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571500" y="2580680"/>
            <a:ext cx="1785938" cy="857250"/>
          </a:xfrm>
          <a:prstGeom prst="rect">
            <a:avLst/>
          </a:prstGeom>
          <a:solidFill>
            <a:srgbClr val="00A3E0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2350294" y="2580680"/>
            <a:ext cx="7144" cy="857250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571500" y="2580680"/>
            <a:ext cx="1785938" cy="85725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AutoGen</a:t>
            </a:r>
            <a:endParaRPr lang="en-US" sz="1269" dirty="0"/>
          </a:p>
        </p:txBody>
      </p:sp>
      <p:sp>
        <p:nvSpPr>
          <p:cNvPr id="15" name="Text 12"/>
          <p:cNvSpPr/>
          <p:nvPr/>
        </p:nvSpPr>
        <p:spPr>
          <a:xfrm>
            <a:off x="2357438" y="2580680"/>
            <a:ext cx="6215063" cy="857250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Focado em pesquisa e inovação em conversas multi-agente dinâmicas, mas com </a:t>
            </a:r>
            <a:r>
              <a:rPr lang="en-US" sz="987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menos foco em estabilidade empresarial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integração de sistemas legados.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71500" y="3652242"/>
            <a:ext cx="8001000" cy="885825"/>
          </a:xfrm>
          <a:prstGeom prst="rect">
            <a:avLst/>
          </a:prstGeom>
          <a:solidFill>
            <a:srgbClr val="00A3E0">
              <a:alpha val="10000"/>
            </a:srgbClr>
          </a:solidFill>
          <a:ln w="18288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571500" y="3652242"/>
            <a:ext cx="1785938" cy="857250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2350294" y="3652242"/>
            <a:ext cx="7144" cy="857250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71500" y="3652242"/>
            <a:ext cx="1785938" cy="85725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 Framework</a:t>
            </a:r>
            <a:endParaRPr lang="en-US" sz="1269" dirty="0"/>
          </a:p>
        </p:txBody>
      </p:sp>
      <p:sp>
        <p:nvSpPr>
          <p:cNvPr id="20" name="Text 17"/>
          <p:cNvSpPr/>
          <p:nvPr/>
        </p:nvSpPr>
        <p:spPr>
          <a:xfrm>
            <a:off x="2357438" y="3652242"/>
            <a:ext cx="6215063" cy="857250"/>
          </a:xfrm>
          <a:prstGeom prst="rect">
            <a:avLst/>
          </a:prstGeom>
          <a:noFill/>
          <a:ln/>
        </p:spPr>
        <p:txBody>
          <a:bodyPr wrap="square" lIns="255143" tIns="255143" rIns="255143" bIns="255143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Nasce </a:t>
            </a:r>
            <a:r>
              <a:rPr lang="en-US" sz="987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"Agent-First"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projetado desde o primeiro dia para ser a base de agentes inteligentes, workflows estruturados e execução de nível empresarial.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001000" cy="10161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1009055"/>
            <a:ext cx="8001000" cy="714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Que é o Microsoft Agent Framework?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294805"/>
            <a:ext cx="3857625" cy="3270052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857250" y="1580555"/>
            <a:ext cx="328612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A3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NOVA BASE UNIFICADA</a:t>
            </a:r>
            <a:endParaRPr lang="en-US" sz="1397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007394"/>
            <a:ext cx="125016" cy="1857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6566" y="2007394"/>
            <a:ext cx="30468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</a:t>
            </a:r>
            <a:r>
              <a:rPr lang="en-US" sz="987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Agent Framework (AF)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o sucessor direto do Semantic Kernel e do AutoGen.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836069"/>
            <a:ext cx="125016" cy="1857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6566" y="2836069"/>
            <a:ext cx="30468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Criado pelas mesmas equipes para consolidar o aprendizado em orquestração de IA.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664744"/>
            <a:ext cx="125016" cy="1857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96566" y="3664744"/>
            <a:ext cx="30468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Oferece um modelo de programação unificado para </a:t>
            </a:r>
            <a:r>
              <a:rPr lang="en-US" sz="987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.NET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r>
              <a:rPr lang="en-US" sz="987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 dirty="0"/>
          </a:p>
        </p:txBody>
      </p:sp>
      <p:sp>
        <p:nvSpPr>
          <p:cNvPr id="14" name="Shape 8"/>
          <p:cNvSpPr/>
          <p:nvPr/>
        </p:nvSpPr>
        <p:spPr>
          <a:xfrm>
            <a:off x="4714875" y="1294805"/>
            <a:ext cx="3857625" cy="3255764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9"/>
          <p:cNvSpPr/>
          <p:nvPr/>
        </p:nvSpPr>
        <p:spPr>
          <a:xfrm>
            <a:off x="5000625" y="1580555"/>
            <a:ext cx="328612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A3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FOCO EMPRESARIAL</a:t>
            </a:r>
            <a:endParaRPr lang="en-US" sz="1397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25" y="2007394"/>
            <a:ext cx="142875" cy="18573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57800" y="2007394"/>
            <a:ext cx="3028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Projetado para aplicações de IA de </a:t>
            </a:r>
            <a:r>
              <a:rPr lang="en-US" sz="987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nível empresarial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robustas e seguras.</a:t>
            </a:r>
            <a:endParaRPr lang="en-US" sz="10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625" y="2607469"/>
            <a:ext cx="142875" cy="18573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257800" y="2607469"/>
            <a:ext cx="3028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Integração profunda com o ecossistema Azure e Microsoft Foundry.</a:t>
            </a:r>
            <a:endParaRPr lang="en-US" sz="10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0625" y="3207544"/>
            <a:ext cx="142875" cy="18573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257800" y="3207544"/>
            <a:ext cx="3028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em estabilidade, telemetria e gerenciamento de estado avançado.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001000" cy="10161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1009055"/>
            <a:ext cx="8001000" cy="714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Comparação de Ecossistemas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294805"/>
            <a:ext cx="8001000" cy="2786063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575072" y="1298377"/>
            <a:ext cx="1997571" cy="498277"/>
          </a:xfrm>
          <a:prstGeom prst="rect">
            <a:avLst/>
          </a:prstGeom>
          <a:solidFill>
            <a:srgbClr val="00A3E0"/>
          </a:solidFill>
          <a:ln w="9144">
            <a:solidFill>
              <a:srgbClr val="00A3E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575072" y="1298377"/>
            <a:ext cx="1997571" cy="49827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CARACTERÍSTICA</a:t>
            </a:r>
            <a:endParaRPr lang="en-US" sz="1090" dirty="0"/>
          </a:p>
        </p:txBody>
      </p:sp>
      <p:sp>
        <p:nvSpPr>
          <p:cNvPr id="9" name="Shape 6"/>
          <p:cNvSpPr/>
          <p:nvPr/>
        </p:nvSpPr>
        <p:spPr>
          <a:xfrm>
            <a:off x="2572643" y="1298377"/>
            <a:ext cx="2162268" cy="498277"/>
          </a:xfrm>
          <a:prstGeom prst="rect">
            <a:avLst/>
          </a:prstGeom>
          <a:solidFill>
            <a:srgbClr val="00A3E0"/>
          </a:solidFill>
          <a:ln w="9144">
            <a:solidFill>
              <a:srgbClr val="00A3E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2572643" y="1298377"/>
            <a:ext cx="2162268" cy="49827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SEMANTIC KERNEL</a:t>
            </a:r>
            <a:endParaRPr lang="en-US" sz="1090" dirty="0"/>
          </a:p>
        </p:txBody>
      </p:sp>
      <p:sp>
        <p:nvSpPr>
          <p:cNvPr id="11" name="Shape 8"/>
          <p:cNvSpPr/>
          <p:nvPr/>
        </p:nvSpPr>
        <p:spPr>
          <a:xfrm>
            <a:off x="4734911" y="1298377"/>
            <a:ext cx="1837646" cy="498277"/>
          </a:xfrm>
          <a:prstGeom prst="rect">
            <a:avLst/>
          </a:prstGeom>
          <a:solidFill>
            <a:srgbClr val="00A3E0"/>
          </a:solidFill>
          <a:ln w="9144">
            <a:solidFill>
              <a:srgbClr val="00A3E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4734911" y="1298377"/>
            <a:ext cx="1837646" cy="49827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AUTOGEN</a:t>
            </a:r>
            <a:endParaRPr lang="en-US" sz="1090" dirty="0"/>
          </a:p>
        </p:txBody>
      </p:sp>
      <p:sp>
        <p:nvSpPr>
          <p:cNvPr id="13" name="Shape 10"/>
          <p:cNvSpPr/>
          <p:nvPr/>
        </p:nvSpPr>
        <p:spPr>
          <a:xfrm>
            <a:off x="6572557" y="1298377"/>
            <a:ext cx="1992799" cy="498277"/>
          </a:xfrm>
          <a:prstGeom prst="rect">
            <a:avLst/>
          </a:prstGeom>
          <a:solidFill>
            <a:srgbClr val="00A3E0"/>
          </a:solidFill>
          <a:ln w="9144">
            <a:solidFill>
              <a:srgbClr val="00A3E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6572557" y="1298377"/>
            <a:ext cx="1992799" cy="49827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 FRAMEWORK</a:t>
            </a:r>
            <a:endParaRPr lang="en-US" sz="1090" dirty="0"/>
          </a:p>
        </p:txBody>
      </p:sp>
      <p:sp>
        <p:nvSpPr>
          <p:cNvPr id="15" name="Shape 12"/>
          <p:cNvSpPr/>
          <p:nvPr/>
        </p:nvSpPr>
        <p:spPr>
          <a:xfrm>
            <a:off x="575072" y="1789509"/>
            <a:ext cx="1997571" cy="455414"/>
          </a:xfrm>
          <a:prstGeom prst="rect">
            <a:avLst/>
          </a:prstGeom>
          <a:solidFill>
            <a:srgbClr val="00A3E0">
              <a:alpha val="10000"/>
            </a:srgbClr>
          </a:solidFill>
          <a:ln w="9144">
            <a:solidFill>
              <a:srgbClr val="00A3E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575072" y="1789509"/>
            <a:ext cx="1997571" cy="45541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de Agentes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2572643" y="1789509"/>
            <a:ext cx="2162268" cy="45541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Adicionado depois (Retrofitted)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4734911" y="1789509"/>
            <a:ext cx="1837646" cy="45541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 (Foco em Conversa)</a:t>
            </a:r>
            <a:endParaRPr lang="en-US" sz="942" dirty="0"/>
          </a:p>
        </p:txBody>
      </p:sp>
      <p:sp>
        <p:nvSpPr>
          <p:cNvPr id="19" name="Shape 16"/>
          <p:cNvSpPr/>
          <p:nvPr/>
        </p:nvSpPr>
        <p:spPr>
          <a:xfrm>
            <a:off x="6572557" y="1789509"/>
            <a:ext cx="1992799" cy="455414"/>
          </a:xfrm>
          <a:prstGeom prst="rect">
            <a:avLst/>
          </a:prstGeom>
          <a:solidFill>
            <a:srgbClr val="00A3E0">
              <a:alpha val="20000"/>
            </a:srgbClr>
          </a:solidFill>
          <a:ln w="18288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004" y="1941314"/>
            <a:ext cx="128588" cy="12858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904741" y="1928813"/>
            <a:ext cx="12376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Nativo (Agent-First)</a:t>
            </a:r>
            <a:endParaRPr lang="en-US" sz="885" dirty="0"/>
          </a:p>
        </p:txBody>
      </p:sp>
      <p:sp>
        <p:nvSpPr>
          <p:cNvPr id="22" name="Shape 18"/>
          <p:cNvSpPr/>
          <p:nvPr/>
        </p:nvSpPr>
        <p:spPr>
          <a:xfrm>
            <a:off x="575072" y="2234208"/>
            <a:ext cx="1997571" cy="455414"/>
          </a:xfrm>
          <a:prstGeom prst="rect">
            <a:avLst/>
          </a:prstGeom>
          <a:solidFill>
            <a:srgbClr val="00A3E0">
              <a:alpha val="10000"/>
            </a:srgbClr>
          </a:solidFill>
          <a:ln w="9144">
            <a:solidFill>
              <a:srgbClr val="00A3E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19"/>
          <p:cNvSpPr/>
          <p:nvPr/>
        </p:nvSpPr>
        <p:spPr>
          <a:xfrm>
            <a:off x="575072" y="2234208"/>
            <a:ext cx="1997571" cy="45541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Workflows</a:t>
            </a:r>
            <a:endParaRPr lang="en-US" sz="885" dirty="0"/>
          </a:p>
        </p:txBody>
      </p:sp>
      <p:sp>
        <p:nvSpPr>
          <p:cNvPr id="24" name="Text 20"/>
          <p:cNvSpPr/>
          <p:nvPr/>
        </p:nvSpPr>
        <p:spPr>
          <a:xfrm>
            <a:off x="2572643" y="2234208"/>
            <a:ext cx="2162268" cy="45541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Orquestração Manual</a:t>
            </a:r>
            <a:endParaRPr lang="en-US" sz="942" dirty="0"/>
          </a:p>
        </p:txBody>
      </p:sp>
      <p:sp>
        <p:nvSpPr>
          <p:cNvPr id="25" name="Text 21"/>
          <p:cNvSpPr/>
          <p:nvPr/>
        </p:nvSpPr>
        <p:spPr>
          <a:xfrm>
            <a:off x="4734911" y="2234208"/>
            <a:ext cx="1837646" cy="45541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Conversacional Dinâmico</a:t>
            </a:r>
            <a:endParaRPr lang="en-US" sz="942" dirty="0"/>
          </a:p>
        </p:txBody>
      </p:sp>
      <p:sp>
        <p:nvSpPr>
          <p:cNvPr id="26" name="Shape 22"/>
          <p:cNvSpPr/>
          <p:nvPr/>
        </p:nvSpPr>
        <p:spPr>
          <a:xfrm>
            <a:off x="6572557" y="2234208"/>
            <a:ext cx="1992799" cy="455414"/>
          </a:xfrm>
          <a:prstGeom prst="rect">
            <a:avLst/>
          </a:prstGeom>
          <a:solidFill>
            <a:srgbClr val="00A3E0">
              <a:alpha val="20000"/>
            </a:srgbClr>
          </a:solidFill>
          <a:ln w="18288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7832" y="2389584"/>
            <a:ext cx="128588" cy="12858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903569" y="2377083"/>
            <a:ext cx="12126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Baseado em Grafos</a:t>
            </a:r>
            <a:endParaRPr lang="en-US" sz="885" dirty="0"/>
          </a:p>
        </p:txBody>
      </p:sp>
      <p:sp>
        <p:nvSpPr>
          <p:cNvPr id="29" name="Shape 24"/>
          <p:cNvSpPr/>
          <p:nvPr/>
        </p:nvSpPr>
        <p:spPr>
          <a:xfrm>
            <a:off x="575072" y="2682478"/>
            <a:ext cx="1997571" cy="455414"/>
          </a:xfrm>
          <a:prstGeom prst="rect">
            <a:avLst/>
          </a:prstGeom>
          <a:solidFill>
            <a:srgbClr val="00A3E0">
              <a:alpha val="10000"/>
            </a:srgbClr>
          </a:solidFill>
          <a:ln w="9144">
            <a:solidFill>
              <a:srgbClr val="00A3E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5"/>
          <p:cNvSpPr/>
          <p:nvPr/>
        </p:nvSpPr>
        <p:spPr>
          <a:xfrm>
            <a:off x="575072" y="2682478"/>
            <a:ext cx="1997571" cy="45541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Estado e Sessão</a:t>
            </a:r>
            <a:endParaRPr lang="en-US" sz="885" dirty="0"/>
          </a:p>
        </p:txBody>
      </p:sp>
      <p:sp>
        <p:nvSpPr>
          <p:cNvPr id="31" name="Text 26"/>
          <p:cNvSpPr/>
          <p:nvPr/>
        </p:nvSpPr>
        <p:spPr>
          <a:xfrm>
            <a:off x="2572643" y="2682478"/>
            <a:ext cx="2163580" cy="45541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Robusto (Kernel-based)</a:t>
            </a:r>
            <a:endParaRPr lang="en-US" sz="942" dirty="0"/>
          </a:p>
        </p:txBody>
      </p:sp>
      <p:sp>
        <p:nvSpPr>
          <p:cNvPr id="32" name="Text 27"/>
          <p:cNvSpPr/>
          <p:nvPr/>
        </p:nvSpPr>
        <p:spPr>
          <a:xfrm>
            <a:off x="4736223" y="2682478"/>
            <a:ext cx="1835162" cy="45541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Básico / Volátil</a:t>
            </a:r>
            <a:endParaRPr lang="en-US" sz="942" dirty="0"/>
          </a:p>
        </p:txBody>
      </p:sp>
      <p:sp>
        <p:nvSpPr>
          <p:cNvPr id="33" name="Shape 28"/>
          <p:cNvSpPr/>
          <p:nvPr/>
        </p:nvSpPr>
        <p:spPr>
          <a:xfrm>
            <a:off x="6571385" y="2682478"/>
            <a:ext cx="1993971" cy="455414"/>
          </a:xfrm>
          <a:prstGeom prst="rect">
            <a:avLst/>
          </a:prstGeom>
          <a:solidFill>
            <a:srgbClr val="00A3E0">
              <a:alpha val="20000"/>
            </a:srgbClr>
          </a:solidFill>
          <a:ln w="18288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7832" y="2837855"/>
            <a:ext cx="128588" cy="12858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903569" y="2825353"/>
            <a:ext cx="146268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Avançado e Persistente</a:t>
            </a:r>
            <a:endParaRPr lang="en-US" sz="885" dirty="0"/>
          </a:p>
        </p:txBody>
      </p:sp>
      <p:sp>
        <p:nvSpPr>
          <p:cNvPr id="36" name="Shape 30"/>
          <p:cNvSpPr/>
          <p:nvPr/>
        </p:nvSpPr>
        <p:spPr>
          <a:xfrm>
            <a:off x="575072" y="3130748"/>
            <a:ext cx="1997571" cy="455414"/>
          </a:xfrm>
          <a:prstGeom prst="rect">
            <a:avLst/>
          </a:prstGeom>
          <a:solidFill>
            <a:srgbClr val="00A3E0">
              <a:alpha val="10000"/>
            </a:srgbClr>
          </a:solidFill>
          <a:ln w="9144">
            <a:solidFill>
              <a:srgbClr val="00A3E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1"/>
          <p:cNvSpPr/>
          <p:nvPr/>
        </p:nvSpPr>
        <p:spPr>
          <a:xfrm>
            <a:off x="575072" y="3130748"/>
            <a:ext cx="1997571" cy="45541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Linguagens</a:t>
            </a:r>
            <a:endParaRPr lang="en-US" sz="885" dirty="0"/>
          </a:p>
        </p:txBody>
      </p:sp>
      <p:sp>
        <p:nvSpPr>
          <p:cNvPr id="38" name="Text 32"/>
          <p:cNvSpPr/>
          <p:nvPr/>
        </p:nvSpPr>
        <p:spPr>
          <a:xfrm>
            <a:off x="2572643" y="3130748"/>
            <a:ext cx="2163580" cy="45541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.NET / Python / Java</a:t>
            </a:r>
            <a:endParaRPr lang="en-US" sz="942" dirty="0"/>
          </a:p>
        </p:txBody>
      </p:sp>
      <p:sp>
        <p:nvSpPr>
          <p:cNvPr id="39" name="Text 33"/>
          <p:cNvSpPr/>
          <p:nvPr/>
        </p:nvSpPr>
        <p:spPr>
          <a:xfrm>
            <a:off x="4736223" y="3130748"/>
            <a:ext cx="1835162" cy="45541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(Principal)</a:t>
            </a:r>
            <a:endParaRPr lang="en-US" sz="942" dirty="0"/>
          </a:p>
        </p:txBody>
      </p:sp>
      <p:sp>
        <p:nvSpPr>
          <p:cNvPr id="40" name="Shape 34"/>
          <p:cNvSpPr/>
          <p:nvPr/>
        </p:nvSpPr>
        <p:spPr>
          <a:xfrm>
            <a:off x="6571385" y="3130748"/>
            <a:ext cx="1993971" cy="455414"/>
          </a:xfrm>
          <a:prstGeom prst="rect">
            <a:avLst/>
          </a:prstGeom>
          <a:solidFill>
            <a:srgbClr val="00A3E0">
              <a:alpha val="20000"/>
            </a:srgbClr>
          </a:solidFill>
          <a:ln w="18288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5059" y="3286125"/>
            <a:ext cx="128588" cy="12858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6910797" y="3273623"/>
            <a:ext cx="14876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Unificado .NET / Python</a:t>
            </a:r>
            <a:endParaRPr lang="en-US" sz="885" dirty="0"/>
          </a:p>
        </p:txBody>
      </p:sp>
      <p:sp>
        <p:nvSpPr>
          <p:cNvPr id="43" name="Shape 36"/>
          <p:cNvSpPr/>
          <p:nvPr/>
        </p:nvSpPr>
        <p:spPr>
          <a:xfrm>
            <a:off x="575072" y="3579019"/>
            <a:ext cx="1997571" cy="455414"/>
          </a:xfrm>
          <a:prstGeom prst="rect">
            <a:avLst/>
          </a:prstGeom>
          <a:solidFill>
            <a:srgbClr val="00A3E0">
              <a:alpha val="10000"/>
            </a:srgbClr>
          </a:solidFill>
          <a:ln w="9144">
            <a:solidFill>
              <a:srgbClr val="00A3E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37"/>
          <p:cNvSpPr/>
          <p:nvPr/>
        </p:nvSpPr>
        <p:spPr>
          <a:xfrm>
            <a:off x="575072" y="3579019"/>
            <a:ext cx="1997571" cy="45541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Principal</a:t>
            </a:r>
            <a:endParaRPr lang="en-US" sz="885" dirty="0"/>
          </a:p>
        </p:txBody>
      </p:sp>
      <p:sp>
        <p:nvSpPr>
          <p:cNvPr id="45" name="Text 38"/>
          <p:cNvSpPr/>
          <p:nvPr/>
        </p:nvSpPr>
        <p:spPr>
          <a:xfrm>
            <a:off x="2569964" y="3579019"/>
            <a:ext cx="2168463" cy="45541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Integração de LLM</a:t>
            </a:r>
            <a:endParaRPr lang="en-US" sz="942" dirty="0"/>
          </a:p>
        </p:txBody>
      </p:sp>
      <p:sp>
        <p:nvSpPr>
          <p:cNvPr id="46" name="Text 39"/>
          <p:cNvSpPr/>
          <p:nvPr/>
        </p:nvSpPr>
        <p:spPr>
          <a:xfrm>
            <a:off x="4738427" y="3579019"/>
            <a:ext cx="1839292" cy="45541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Pesquisa Multi-Agente</a:t>
            </a:r>
            <a:endParaRPr lang="en-US" sz="942" dirty="0"/>
          </a:p>
        </p:txBody>
      </p:sp>
      <p:sp>
        <p:nvSpPr>
          <p:cNvPr id="47" name="Shape 40"/>
          <p:cNvSpPr/>
          <p:nvPr/>
        </p:nvSpPr>
        <p:spPr>
          <a:xfrm>
            <a:off x="6577719" y="3579019"/>
            <a:ext cx="1987637" cy="455414"/>
          </a:xfrm>
          <a:prstGeom prst="rect">
            <a:avLst/>
          </a:prstGeom>
          <a:solidFill>
            <a:srgbClr val="00A3E0">
              <a:alpha val="20000"/>
            </a:srgbClr>
          </a:solidFill>
          <a:ln w="18288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524" y="3737967"/>
            <a:ext cx="128588" cy="128588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6915262" y="3725466"/>
            <a:ext cx="13698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Aplicações Enterprise</a:t>
            </a:r>
            <a:endParaRPr lang="en-US" sz="88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001000" cy="10161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1009055"/>
            <a:ext cx="8001000" cy="714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 Dois Pilares do Framework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294805"/>
            <a:ext cx="3857625" cy="3460366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07344"/>
            <a:ext cx="357188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7250" y="2069902"/>
            <a:ext cx="1934170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Agentes (Agents)</a:t>
            </a:r>
            <a:endParaRPr lang="en-US" sz="1602" dirty="0"/>
          </a:p>
        </p:txBody>
      </p:sp>
      <p:sp>
        <p:nvSpPr>
          <p:cNvPr id="9" name="Text 5"/>
          <p:cNvSpPr/>
          <p:nvPr/>
        </p:nvSpPr>
        <p:spPr>
          <a:xfrm>
            <a:off x="857250" y="2546747"/>
            <a:ext cx="32861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Entidades individuais que utilizam LLMs para processar entradas, raciocinar sobre tarefas e executar ações.</a:t>
            </a:r>
            <a:endParaRPr lang="en-US" sz="942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440720"/>
            <a:ext cx="100013" cy="1000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42988" y="3335350"/>
            <a:ext cx="3100388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Suporte a </a:t>
            </a:r>
            <a:r>
              <a:rPr lang="en-US" sz="885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múltiplos provedores</a:t>
            </a: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(Azure, OpenAI, Ollama)</a:t>
            </a:r>
            <a:endParaRPr lang="en-US" sz="942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759510"/>
            <a:ext cx="100013" cy="1000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42988" y="3731828"/>
            <a:ext cx="22877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 de ferramentas e servidores </a:t>
            </a:r>
            <a:r>
              <a:rPr lang="en-US" sz="885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</a:t>
            </a:r>
            <a:endParaRPr lang="en-US" sz="942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4000612"/>
            <a:ext cx="100013" cy="10001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42988" y="3972930"/>
            <a:ext cx="265390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Conversas multi-turno e memória contextual</a:t>
            </a:r>
            <a:endParaRPr lang="en-US" sz="942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4241713"/>
            <a:ext cx="100013" cy="100013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42988" y="4214031"/>
            <a:ext cx="19431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Raciocínio dinâmico e autônomo</a:t>
            </a:r>
            <a:endParaRPr lang="en-US" sz="942" dirty="0"/>
          </a:p>
        </p:txBody>
      </p:sp>
      <p:sp>
        <p:nvSpPr>
          <p:cNvPr id="18" name="Shape 10"/>
          <p:cNvSpPr/>
          <p:nvPr/>
        </p:nvSpPr>
        <p:spPr>
          <a:xfrm>
            <a:off x="4714875" y="1294805"/>
            <a:ext cx="3857625" cy="344607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0625" y="1607344"/>
            <a:ext cx="321469" cy="28575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000625" y="2069902"/>
            <a:ext cx="1148358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Workflows</a:t>
            </a:r>
            <a:endParaRPr lang="en-US" sz="1602" dirty="0"/>
          </a:p>
        </p:txBody>
      </p:sp>
      <p:sp>
        <p:nvSpPr>
          <p:cNvPr id="21" name="Text 12"/>
          <p:cNvSpPr/>
          <p:nvPr/>
        </p:nvSpPr>
        <p:spPr>
          <a:xfrm>
            <a:off x="5000625" y="2546747"/>
            <a:ext cx="32861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Estruturas baseadas em grafos que conectam agentes e funções para orquestrar tarefas complexas e multi-etapas.</a:t>
            </a:r>
            <a:endParaRPr lang="en-US" sz="942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25" y="3363032"/>
            <a:ext cx="100013" cy="100013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186363" y="3335350"/>
            <a:ext cx="228064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Roteamento </a:t>
            </a:r>
            <a:r>
              <a:rPr lang="en-US" sz="885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Type-Safe</a:t>
            </a: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determinístico</a:t>
            </a:r>
            <a:endParaRPr lang="en-US" sz="942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0625" y="3604133"/>
            <a:ext cx="100013" cy="100013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186363" y="3576451"/>
            <a:ext cx="24699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 de </a:t>
            </a:r>
            <a:r>
              <a:rPr lang="en-US" sz="885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Checkpointing</a:t>
            </a: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persistência</a:t>
            </a:r>
            <a:endParaRPr lang="en-US" sz="942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625" y="3845235"/>
            <a:ext cx="100013" cy="100013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186363" y="3817553"/>
            <a:ext cx="221813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Suporte nativo a </a:t>
            </a:r>
            <a:r>
              <a:rPr lang="en-US" sz="885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Human-in-the-loop</a:t>
            </a:r>
            <a:endParaRPr lang="en-US" sz="942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0625" y="4086337"/>
            <a:ext cx="100013" cy="100013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5186363" y="4058655"/>
            <a:ext cx="27217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Execução sequencial, paralela ou condicional</a:t>
            </a:r>
            <a:endParaRPr lang="en-US" sz="942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001000" cy="10161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1009055"/>
            <a:ext cx="8001000" cy="714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Vantagens para o Desenvolvedor Enterprise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294805"/>
            <a:ext cx="3893344" cy="1385106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518047"/>
            <a:ext cx="250031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1509117"/>
            <a:ext cx="105370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TYPE SAFETY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785813" y="1834158"/>
            <a:ext cx="346471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Redução drástica de erros em tempo de execução através de </a:t>
            </a:r>
            <a:r>
              <a:rPr lang="en-US" sz="885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tipagem forte</a:t>
            </a: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 .NET e Python, garantindo contratos claros entre agentes e ferramentas.</a:t>
            </a:r>
            <a:endParaRPr lang="en-US" sz="942" dirty="0"/>
          </a:p>
        </p:txBody>
      </p:sp>
      <p:sp>
        <p:nvSpPr>
          <p:cNvPr id="10" name="Shape 6"/>
          <p:cNvSpPr/>
          <p:nvPr/>
        </p:nvSpPr>
        <p:spPr>
          <a:xfrm>
            <a:off x="4679156" y="1294805"/>
            <a:ext cx="3893344" cy="1385106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1518047"/>
            <a:ext cx="175022" cy="2000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75647" y="1509117"/>
            <a:ext cx="154305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GESTÃO DE SESSÃO</a:t>
            </a:r>
            <a:endParaRPr lang="en-US" sz="1193" dirty="0"/>
          </a:p>
        </p:txBody>
      </p:sp>
      <p:sp>
        <p:nvSpPr>
          <p:cNvPr id="13" name="Text 8"/>
          <p:cNvSpPr/>
          <p:nvPr/>
        </p:nvSpPr>
        <p:spPr>
          <a:xfrm>
            <a:off x="4893469" y="1834158"/>
            <a:ext cx="346471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Estado persistente nativo para </a:t>
            </a:r>
            <a:r>
              <a:rPr lang="en-US" sz="885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conversas de longa duração</a:t>
            </a: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Gerencie o histórico e o contexto de múltiplos usuários de forma escalável e segura.</a:t>
            </a:r>
            <a:endParaRPr lang="en-US" sz="942" dirty="0"/>
          </a:p>
        </p:txBody>
      </p:sp>
      <p:sp>
        <p:nvSpPr>
          <p:cNvPr id="14" name="Shape 9"/>
          <p:cNvSpPr/>
          <p:nvPr/>
        </p:nvSpPr>
        <p:spPr>
          <a:xfrm>
            <a:off x="571500" y="2894223"/>
            <a:ext cx="3893344" cy="1385106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3117466"/>
            <a:ext cx="200025" cy="2000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2994" y="3108536"/>
            <a:ext cx="106977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MIDDLEWARE</a:t>
            </a:r>
            <a:endParaRPr lang="en-US" sz="1193" dirty="0"/>
          </a:p>
        </p:txBody>
      </p:sp>
      <p:sp>
        <p:nvSpPr>
          <p:cNvPr id="17" name="Text 11"/>
          <p:cNvSpPr/>
          <p:nvPr/>
        </p:nvSpPr>
        <p:spPr>
          <a:xfrm>
            <a:off x="785813" y="3433576"/>
            <a:ext cx="346471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Intercepte e modifique ações do agente em tempo real. Essencial para implementar </a:t>
            </a:r>
            <a:r>
              <a:rPr lang="en-US" sz="885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filtros de segurança</a:t>
            </a: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auditoria e lógica de negócios customizada.</a:t>
            </a:r>
            <a:endParaRPr lang="en-US" sz="942" dirty="0"/>
          </a:p>
        </p:txBody>
      </p:sp>
      <p:sp>
        <p:nvSpPr>
          <p:cNvPr id="18" name="Shape 12"/>
          <p:cNvSpPr/>
          <p:nvPr/>
        </p:nvSpPr>
        <p:spPr>
          <a:xfrm>
            <a:off x="4679156" y="2894223"/>
            <a:ext cx="3893344" cy="1385106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3469" y="3103178"/>
            <a:ext cx="200025" cy="20002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00650" y="3094248"/>
            <a:ext cx="989409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TELEMETRIA</a:t>
            </a:r>
            <a:endParaRPr lang="en-US" sz="1193" dirty="0"/>
          </a:p>
        </p:txBody>
      </p:sp>
      <p:sp>
        <p:nvSpPr>
          <p:cNvPr id="21" name="Text 14"/>
          <p:cNvSpPr/>
          <p:nvPr/>
        </p:nvSpPr>
        <p:spPr>
          <a:xfrm>
            <a:off x="4893469" y="3419289"/>
            <a:ext cx="346471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Monitoramento detalhado de performance, latência e </a:t>
            </a:r>
            <a:r>
              <a:rPr lang="en-US" sz="885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custos de tokens</a:t>
            </a: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Integração nativa com ferramentas de observabilidade enterprise.</a:t>
            </a:r>
            <a:endParaRPr lang="en-US" sz="942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001000" cy="10161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1009055"/>
            <a:ext cx="8001000" cy="714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Workflows em Grafo: O Diferencial Estrutural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294805"/>
            <a:ext cx="3857625" cy="3005733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857250" y="1580555"/>
            <a:ext cx="328612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A3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CONTROLE DE EXECUÇÃO</a:t>
            </a:r>
            <a:endParaRPr lang="en-US" sz="1397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023467"/>
            <a:ext cx="171450" cy="1571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14425" y="2007394"/>
            <a:ext cx="255746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Orquestração Baseada em Grafos</a:t>
            </a:r>
            <a:endParaRPr lang="en-US" sz="1090" dirty="0"/>
          </a:p>
        </p:txBody>
      </p:sp>
      <p:sp>
        <p:nvSpPr>
          <p:cNvPr id="10" name="Text 6"/>
          <p:cNvSpPr/>
          <p:nvPr/>
        </p:nvSpPr>
        <p:spPr>
          <a:xfrm>
            <a:off x="857250" y="2253853"/>
            <a:ext cx="3286125" cy="578644"/>
          </a:xfrm>
          <a:prstGeom prst="rect">
            <a:avLst/>
          </a:prstGeom>
          <a:noFill/>
          <a:ln/>
        </p:spPr>
        <p:txBody>
          <a:bodyPr wrap="square" lIns="306197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 definir caminhos de execução </a:t>
            </a:r>
            <a:r>
              <a:rPr lang="en-US" sz="885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explícitos e determinísticos</a:t>
            </a: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entre múltiplos agentes e funções.</a:t>
            </a:r>
            <a:endParaRPr lang="en-US" sz="942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020020"/>
            <a:ext cx="171450" cy="1571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14425" y="3003947"/>
            <a:ext cx="219134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Determinismo vs. Autonomia</a:t>
            </a:r>
            <a:endParaRPr lang="en-US" sz="1090" dirty="0"/>
          </a:p>
        </p:txBody>
      </p:sp>
      <p:sp>
        <p:nvSpPr>
          <p:cNvPr id="13" name="Text 8"/>
          <p:cNvSpPr/>
          <p:nvPr/>
        </p:nvSpPr>
        <p:spPr>
          <a:xfrm>
            <a:off x="857250" y="3250406"/>
            <a:ext cx="3286125" cy="578644"/>
          </a:xfrm>
          <a:prstGeom prst="rect">
            <a:avLst/>
          </a:prstGeom>
          <a:noFill/>
          <a:ln/>
        </p:spPr>
        <p:txBody>
          <a:bodyPr wrap="square" lIns="306197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Misture lógica de programação clássica (if/else, loops) com o raciocínio dinâmico e probabilístico da IA.</a:t>
            </a:r>
            <a:endParaRPr lang="en-US" sz="942" dirty="0"/>
          </a:p>
        </p:txBody>
      </p:sp>
      <p:sp>
        <p:nvSpPr>
          <p:cNvPr id="14" name="Shape 9"/>
          <p:cNvSpPr/>
          <p:nvPr/>
        </p:nvSpPr>
        <p:spPr>
          <a:xfrm>
            <a:off x="4714875" y="1294805"/>
            <a:ext cx="3857625" cy="3005733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0"/>
          <p:cNvSpPr/>
          <p:nvPr/>
        </p:nvSpPr>
        <p:spPr>
          <a:xfrm>
            <a:off x="5000625" y="1580555"/>
            <a:ext cx="328612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A3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RESILIÊNCIA E INTERAÇÃO</a:t>
            </a:r>
            <a:endParaRPr lang="en-US" sz="1397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625" y="2023467"/>
            <a:ext cx="171450" cy="15716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57800" y="2007394"/>
            <a:ext cx="147697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Human-in-the-loop</a:t>
            </a:r>
            <a:endParaRPr lang="en-US" sz="1090" dirty="0"/>
          </a:p>
        </p:txBody>
      </p:sp>
      <p:sp>
        <p:nvSpPr>
          <p:cNvPr id="18" name="Text 12"/>
          <p:cNvSpPr/>
          <p:nvPr/>
        </p:nvSpPr>
        <p:spPr>
          <a:xfrm>
            <a:off x="5000625" y="2253853"/>
            <a:ext cx="3286125" cy="578644"/>
          </a:xfrm>
          <a:prstGeom prst="rect">
            <a:avLst/>
          </a:prstGeom>
          <a:noFill/>
          <a:ln/>
        </p:spPr>
        <p:txBody>
          <a:bodyPr wrap="square" lIns="306197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Suporte nativo para pausar a execução, solicitar aprovação ou entrada humana e retomar o processo.</a:t>
            </a:r>
            <a:endParaRPr lang="en-US" sz="942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0625" y="3020020"/>
            <a:ext cx="171450" cy="15716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57800" y="3003947"/>
            <a:ext cx="221456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Checkpointing e Persistência</a:t>
            </a:r>
            <a:endParaRPr lang="en-US" sz="1090" dirty="0"/>
          </a:p>
        </p:txBody>
      </p:sp>
      <p:sp>
        <p:nvSpPr>
          <p:cNvPr id="21" name="Text 14"/>
          <p:cNvSpPr/>
          <p:nvPr/>
        </p:nvSpPr>
        <p:spPr>
          <a:xfrm>
            <a:off x="5000625" y="3250406"/>
            <a:ext cx="3286125" cy="578644"/>
          </a:xfrm>
          <a:prstGeom prst="rect">
            <a:avLst/>
          </a:prstGeom>
          <a:noFill/>
          <a:ln/>
        </p:spPr>
        <p:txBody>
          <a:bodyPr wrap="square" lIns="306197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 de salvar o estado do workflow em qualquer ponto, permitindo </a:t>
            </a:r>
            <a:r>
              <a:rPr lang="en-US" sz="885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recuperação de falhas</a:t>
            </a: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processos de longa duração.</a:t>
            </a:r>
            <a:endParaRPr lang="en-US" sz="942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001000" cy="10161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1009055"/>
            <a:ext cx="8001000" cy="714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Integração Nativa com MCP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294805"/>
            <a:ext cx="3857625" cy="3691533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857250" y="1580555"/>
            <a:ext cx="1701998" cy="278606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857250" y="1580555"/>
            <a:ext cx="1701998" cy="278606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Model Context Protocol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857250" y="2002036"/>
            <a:ext cx="328612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A3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QUE É O MCP?</a:t>
            </a:r>
            <a:endParaRPr lang="en-US" sz="1397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428875"/>
            <a:ext cx="178594" cy="1857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144" y="2428875"/>
            <a:ext cx="29932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Padrão aberto criado pela </a:t>
            </a:r>
            <a:r>
              <a:rPr lang="en-US" sz="987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Anthropic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adotado pela </a:t>
            </a:r>
            <a:r>
              <a:rPr lang="en-US" sz="987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conectar LLMs a dados e ferramentas.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257550"/>
            <a:ext cx="142875" cy="18573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14425" y="3257550"/>
            <a:ext cx="30289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 a necessidade de escrever conectores customizados para cada nova ferramenta ou API.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086225"/>
            <a:ext cx="142875" cy="18573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14425" y="4086225"/>
            <a:ext cx="3028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Promove a </a:t>
            </a:r>
            <a:r>
              <a:rPr lang="en-US" sz="987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interoperabilidade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total entre diferentes frameworks de agentes.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4714875" y="1294805"/>
            <a:ext cx="3857625" cy="3677245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1"/>
          <p:cNvSpPr/>
          <p:nvPr/>
        </p:nvSpPr>
        <p:spPr>
          <a:xfrm>
            <a:off x="5000625" y="1580555"/>
            <a:ext cx="328612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A3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BENEFÍCIOS NO FRAMEWORK</a:t>
            </a:r>
            <a:endParaRPr lang="en-US" sz="1397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0625" y="2007394"/>
            <a:ext cx="142875" cy="18573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57800" y="2007394"/>
            <a:ext cx="30289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 Integration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Conecte seus agentes a bancos de dados, sistemas de arquivos e APIs externas instantaneamente.</a:t>
            </a:r>
            <a:endParaRPr lang="en-US" sz="987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0625" y="2836069"/>
            <a:ext cx="125016" cy="18573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39941" y="2836069"/>
            <a:ext cx="30468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Reutilize o mesmo "Tool" em diferentes agentes e até em outros frameworks compatíveis com MCP.</a:t>
            </a:r>
            <a:endParaRPr lang="en-US" sz="105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0625" y="3664744"/>
            <a:ext cx="142875" cy="18573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257800" y="3664744"/>
            <a:ext cx="3028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Segurança padronizada para o acesso a contextos e execução de funções externas.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006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001000" cy="10161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1009055"/>
            <a:ext cx="8001000" cy="714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Quando Usar Agentes vs Workflows?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223367"/>
            <a:ext cx="3857625" cy="2812852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465362"/>
            <a:ext cx="250031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21569" y="1437680"/>
            <a:ext cx="2062758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A3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Agentes Quando:</a:t>
            </a:r>
            <a:endParaRPr lang="en-US" sz="1397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1835944"/>
            <a:ext cx="128588" cy="1571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0125" y="1835944"/>
            <a:ext cx="32146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tarefa exige </a:t>
            </a:r>
            <a:r>
              <a:rPr lang="en-US" sz="942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raciocínio dinâmico</a:t>
            </a: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tomada de decisão em tempo real.</a:t>
            </a:r>
            <a:endParaRPr lang="en-US" sz="942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2328863"/>
            <a:ext cx="128588" cy="15716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0125" y="2328863"/>
            <a:ext cx="32146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caminho para a solução não é estritamente definido ou linear.</a:t>
            </a:r>
            <a:endParaRPr lang="en-US" sz="942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2821781"/>
            <a:ext cx="128588" cy="15716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00125" y="2821781"/>
            <a:ext cx="32146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Há necessidade de conversas multi-turno complexas com o usuário.</a:t>
            </a:r>
            <a:endParaRPr lang="en-US" sz="942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3314700"/>
            <a:ext cx="128588" cy="157163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00125" y="3314700"/>
            <a:ext cx="32146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agente precisa escolher autonomamente quais ferramentas usar.</a:t>
            </a:r>
            <a:endParaRPr lang="en-US" sz="942" dirty="0"/>
          </a:p>
        </p:txBody>
      </p:sp>
      <p:sp>
        <p:nvSpPr>
          <p:cNvPr id="17" name="Shape 9"/>
          <p:cNvSpPr/>
          <p:nvPr/>
        </p:nvSpPr>
        <p:spPr>
          <a:xfrm>
            <a:off x="4714875" y="1223367"/>
            <a:ext cx="3857625" cy="2812852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1465362"/>
            <a:ext cx="225028" cy="200025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239941" y="1437680"/>
            <a:ext cx="2273498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A3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Workflows Quando:</a:t>
            </a:r>
            <a:endParaRPr lang="en-US" sz="1397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1835944"/>
            <a:ext cx="128588" cy="157163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143500" y="1835944"/>
            <a:ext cx="32146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processo tem </a:t>
            </a:r>
            <a:r>
              <a:rPr lang="en-US" sz="942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etapas claras</a:t>
            </a: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sequenciais ou condicionais.</a:t>
            </a:r>
            <a:endParaRPr lang="en-US" sz="942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2328863"/>
            <a:ext cx="128588" cy="157163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143500" y="2328863"/>
            <a:ext cx="32146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 necessário controle rígido e determinístico sobre a execução.</a:t>
            </a:r>
            <a:endParaRPr lang="en-US" sz="942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2821781"/>
            <a:ext cx="128588" cy="157163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5143500" y="2821781"/>
            <a:ext cx="32146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tarefa exige </a:t>
            </a:r>
            <a:r>
              <a:rPr lang="en-US" sz="942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checkpoints de segurança</a:t>
            </a: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 aprovação humana.</a:t>
            </a:r>
            <a:endParaRPr lang="en-US" sz="942" dirty="0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3314700"/>
            <a:ext cx="128588" cy="157163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5143500" y="3314700"/>
            <a:ext cx="32146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 precisa de roteamento type-safe entre diferentes agentes.</a:t>
            </a:r>
            <a:endParaRPr lang="en-US" sz="942" dirty="0"/>
          </a:p>
        </p:txBody>
      </p:sp>
      <p:sp>
        <p:nvSpPr>
          <p:cNvPr id="28" name="Shape 15"/>
          <p:cNvSpPr/>
          <p:nvPr/>
        </p:nvSpPr>
        <p:spPr>
          <a:xfrm>
            <a:off x="571500" y="4307681"/>
            <a:ext cx="8001000" cy="871538"/>
          </a:xfrm>
          <a:prstGeom prst="rect">
            <a:avLst/>
          </a:prstGeom>
          <a:solidFill>
            <a:srgbClr val="00A3E0">
              <a:alpha val="10000"/>
            </a:srgbClr>
          </a:solidFill>
          <a:ln w="18288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813" y="4554141"/>
            <a:ext cx="385763" cy="342900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1343025" y="4539853"/>
            <a:ext cx="7015163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Regra de Ouro:</a:t>
            </a: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 você pode resolver o problema com uma função de código simples e determinística, faça isso em vez de usar um agente de IA.</a:t>
            </a:r>
            <a:endParaRPr lang="en-US" sz="109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6850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001000" cy="10161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1009055"/>
            <a:ext cx="8001000" cy="714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Mão na Massa: Exemplo em C# (.NET)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294805"/>
            <a:ext cx="8001000" cy="467916"/>
          </a:xfrm>
          <a:prstGeom prst="rect">
            <a:avLst/>
          </a:prstGeom>
          <a:solidFill>
            <a:srgbClr val="00A3E0">
              <a:alpha val="10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571500" y="1294805"/>
            <a:ext cx="8001000" cy="46791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00A3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$ dotnet add package </a:t>
            </a:r>
            <a:r>
              <a:rPr lang="en-US" sz="942" dirty="0" err="1">
                <a:solidFill>
                  <a:srgbClr val="00A3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Microsoft.Agents.AI.Foundry</a:t>
            </a:r>
            <a:r>
              <a:rPr lang="en-US" sz="942" dirty="0">
                <a:solidFill>
                  <a:srgbClr val="00A3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--prerelease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571500" y="1962745"/>
            <a:ext cx="8001000" cy="3184327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785813" y="2177058"/>
            <a:ext cx="75723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00A3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PROGRAM.CS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785813" y="2411016"/>
            <a:ext cx="7572375" cy="2507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A3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using</a:t>
            </a:r>
            <a:r>
              <a:rPr lang="en-US" sz="942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Microsoft.Agents.AI;
</a:t>
            </a:r>
            <a:r>
              <a:rPr lang="en-US" sz="942" dirty="0">
                <a:solidFill>
                  <a:srgbClr val="6272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Inicializa o cliente e o agente</a:t>
            </a:r>
            <a:r>
              <a:rPr lang="en-US" sz="942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42" dirty="0">
                <a:solidFill>
                  <a:srgbClr val="50FA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AIAgent</a:t>
            </a:r>
            <a:r>
              <a:rPr lang="en-US" sz="942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agent = </a:t>
            </a:r>
            <a:r>
              <a:rPr lang="en-US" sz="885" b="1" dirty="0">
                <a:solidFill>
                  <a:srgbClr val="00A3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new</a:t>
            </a:r>
            <a:r>
              <a:rPr lang="en-US" sz="942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42" dirty="0">
                <a:solidFill>
                  <a:srgbClr val="50FA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AIProjectClient</a:t>
            </a:r>
            <a:r>
              <a:rPr lang="en-US" sz="942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(projectUri, credential)
    .AsAIAgent(
        model: </a:t>
            </a:r>
            <a:r>
              <a:rPr lang="en-US" sz="942" dirty="0">
                <a:solidFill>
                  <a:srgbClr val="8BE9F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"gpt-4o"</a:t>
            </a:r>
            <a:r>
              <a:rPr lang="en-US" sz="942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 
        instructions: </a:t>
            </a:r>
            <a:r>
              <a:rPr lang="en-US" sz="942" dirty="0">
                <a:solidFill>
                  <a:srgbClr val="8BE9F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"Você é um assistente técnico breve."</a:t>
            </a:r>
            <a:r>
              <a:rPr lang="en-US" sz="942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);
</a:t>
            </a:r>
            <a:r>
              <a:rPr lang="en-US" sz="942" dirty="0">
                <a:solidFill>
                  <a:srgbClr val="6272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Executa uma interação</a:t>
            </a:r>
            <a:r>
              <a:rPr lang="en-US" sz="942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85" b="1" dirty="0">
                <a:solidFill>
                  <a:srgbClr val="00A3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var</a:t>
            </a:r>
            <a:r>
              <a:rPr lang="en-US" sz="942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response = </a:t>
            </a:r>
            <a:r>
              <a:rPr lang="en-US" sz="885" b="1" dirty="0">
                <a:solidFill>
                  <a:srgbClr val="00A3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await</a:t>
            </a:r>
            <a:r>
              <a:rPr lang="en-US" sz="942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agent.RunAsync(</a:t>
            </a:r>
            <a:r>
              <a:rPr lang="en-US" sz="942" dirty="0">
                <a:solidFill>
                  <a:srgbClr val="8BE9F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"Como o AF substitui o SK?"</a:t>
            </a:r>
            <a:r>
              <a:rPr lang="en-US" sz="942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);
</a:t>
            </a:r>
            <a:r>
              <a:rPr lang="en-US" sz="942" dirty="0">
                <a:solidFill>
                  <a:srgbClr val="50FA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Console</a:t>
            </a:r>
            <a:r>
              <a:rPr lang="en-US" sz="942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.WriteLine(response);</a:t>
            </a:r>
            <a:endParaRPr lang="en-US" sz="88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001000" cy="10161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1009055"/>
            <a:ext cx="8001000" cy="714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Futuro e a Comunidade Open Source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294805"/>
            <a:ext cx="3857625" cy="3584377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857250" y="1580555"/>
            <a:ext cx="328612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A3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COMPROMISSO ABERTO</a:t>
            </a:r>
            <a:endParaRPr lang="en-US" sz="1397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007394"/>
            <a:ext cx="125016" cy="1857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6566" y="2007394"/>
            <a:ext cx="30468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Microsoft Agent Framework é </a:t>
            </a:r>
            <a:r>
              <a:rPr lang="en-US" sz="987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totalmente Open Source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seguindo o legado de sucesso do Semantic Kernel e AutoGen.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864644"/>
            <a:ext cx="178594" cy="1857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50144" y="2864644"/>
            <a:ext cx="29932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Desenvolvido em colaboração direta com a comunidade global de desenvolvedores de IA.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721894"/>
            <a:ext cx="142875" cy="1857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14425" y="3721894"/>
            <a:ext cx="30289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Evolução contínua com atualizações frequentes e suporte a novos modelos de linguagem.</a:t>
            </a:r>
            <a:endParaRPr lang="en-US" sz="1050" dirty="0"/>
          </a:p>
        </p:txBody>
      </p:sp>
      <p:sp>
        <p:nvSpPr>
          <p:cNvPr id="14" name="Shape 8"/>
          <p:cNvSpPr/>
          <p:nvPr/>
        </p:nvSpPr>
        <p:spPr>
          <a:xfrm>
            <a:off x="4714875" y="1294805"/>
            <a:ext cx="3857625" cy="3570089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9"/>
          <p:cNvSpPr/>
          <p:nvPr/>
        </p:nvSpPr>
        <p:spPr>
          <a:xfrm>
            <a:off x="5000625" y="1580555"/>
            <a:ext cx="328612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A3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CAMINHO DE MIGRAÇÃO</a:t>
            </a:r>
            <a:endParaRPr lang="en-US" sz="1397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0625" y="2007394"/>
            <a:ext cx="142875" cy="18573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57800" y="2007394"/>
            <a:ext cx="30289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Microsoft fornece </a:t>
            </a:r>
            <a:r>
              <a:rPr lang="en-US" sz="987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guias de migração detalhados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quem já utiliza os frameworks anteriores.</a:t>
            </a:r>
            <a:endParaRPr lang="en-US" sz="10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0625" y="3014663"/>
            <a:ext cx="89297" cy="18573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204222" y="3014663"/>
            <a:ext cx="3082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Kernel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Mapeamento de Kernels e Plugins para Agentes e Tools.</a:t>
            </a:r>
            <a:endParaRPr lang="en-US" sz="987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0625" y="3643313"/>
            <a:ext cx="89297" cy="18573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204222" y="3643313"/>
            <a:ext cx="3082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AutoGen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Transição de AssistantAgents para o novo modelo unificado.</a:t>
            </a:r>
            <a:endParaRPr lang="en-US" sz="987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001000" cy="10161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1009055"/>
            <a:ext cx="8001000" cy="714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Orquestração Multi-Agente: Padrões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294805"/>
            <a:ext cx="2524116" cy="2500313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0663" y="1509117"/>
            <a:ext cx="385763" cy="342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5813" y="1994892"/>
            <a:ext cx="209549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SEQUENCIAL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785813" y="2319933"/>
            <a:ext cx="209549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 linear onde o resultado de um agente alimenta o próximo. Ideal para pipelines de processamento de dados.</a:t>
            </a:r>
            <a:endParaRPr lang="en-US" sz="834" dirty="0"/>
          </a:p>
        </p:txBody>
      </p:sp>
      <p:sp>
        <p:nvSpPr>
          <p:cNvPr id="10" name="Shape 6"/>
          <p:cNvSpPr/>
          <p:nvPr/>
        </p:nvSpPr>
        <p:spPr>
          <a:xfrm>
            <a:off x="3309928" y="1294805"/>
            <a:ext cx="2524116" cy="2500313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0522" y="1509117"/>
            <a:ext cx="342900" cy="3429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24241" y="1994892"/>
            <a:ext cx="209549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CONCORRENTE</a:t>
            </a:r>
            <a:endParaRPr lang="en-US" sz="1193" dirty="0"/>
          </a:p>
        </p:txBody>
      </p:sp>
      <p:sp>
        <p:nvSpPr>
          <p:cNvPr id="13" name="Text 8"/>
          <p:cNvSpPr/>
          <p:nvPr/>
        </p:nvSpPr>
        <p:spPr>
          <a:xfrm>
            <a:off x="3524241" y="2319933"/>
            <a:ext cx="20954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Múltiplos agentes trabalham em paralelo para resolver sub-tarefas. Um agente "Orquestrador" consolida a resposta final.</a:t>
            </a:r>
            <a:endParaRPr lang="en-US" sz="834" dirty="0"/>
          </a:p>
        </p:txBody>
      </p:sp>
      <p:sp>
        <p:nvSpPr>
          <p:cNvPr id="14" name="Shape 9"/>
          <p:cNvSpPr/>
          <p:nvPr/>
        </p:nvSpPr>
        <p:spPr>
          <a:xfrm>
            <a:off x="6048356" y="1294805"/>
            <a:ext cx="2524144" cy="2500313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8978" y="1509117"/>
            <a:ext cx="342900" cy="3429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262669" y="1994892"/>
            <a:ext cx="2095519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HANDOFF</a:t>
            </a:r>
            <a:endParaRPr lang="en-US" sz="1193" dirty="0"/>
          </a:p>
        </p:txBody>
      </p:sp>
      <p:sp>
        <p:nvSpPr>
          <p:cNvPr id="17" name="Text 11"/>
          <p:cNvSpPr/>
          <p:nvPr/>
        </p:nvSpPr>
        <p:spPr>
          <a:xfrm>
            <a:off x="6262669" y="2319933"/>
            <a:ext cx="20955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Transferência dinâmica de tarefas entre agentes especializados (ex: Agente de Suporte passa para Agente de Vendas).</a:t>
            </a:r>
            <a:endParaRPr lang="en-US" sz="834" dirty="0"/>
          </a:p>
        </p:txBody>
      </p:sp>
      <p:sp>
        <p:nvSpPr>
          <p:cNvPr id="18" name="Shape 12"/>
          <p:cNvSpPr/>
          <p:nvPr/>
        </p:nvSpPr>
        <p:spPr>
          <a:xfrm>
            <a:off x="571500" y="4080867"/>
            <a:ext cx="8001000" cy="632222"/>
          </a:xfrm>
          <a:prstGeom prst="rect">
            <a:avLst/>
          </a:prstGeom>
          <a:solidFill>
            <a:srgbClr val="00A3E0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3"/>
          <p:cNvSpPr/>
          <p:nvPr/>
        </p:nvSpPr>
        <p:spPr>
          <a:xfrm>
            <a:off x="571500" y="4080867"/>
            <a:ext cx="28575" cy="632222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4"/>
          <p:cNvSpPr/>
          <p:nvPr/>
        </p:nvSpPr>
        <p:spPr>
          <a:xfrm>
            <a:off x="571500" y="4080867"/>
            <a:ext cx="8001000" cy="63222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Vantagem: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Agentes menores e especializados são mais precisos, baratos e fáceis de manter do que um único agente monolítico.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001000" cy="10161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1009055"/>
            <a:ext cx="8001000" cy="714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Anatomia de um Workflow (Graph-based)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294805"/>
            <a:ext cx="3893344" cy="117938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518047"/>
            <a:ext cx="200025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2994" y="1509117"/>
            <a:ext cx="94833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EXECUTORS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785813" y="1834158"/>
            <a:ext cx="346471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Unidades de processamento do grafo. Podem ser </a:t>
            </a:r>
            <a:r>
              <a:rPr lang="en-US" sz="885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de IA</a:t>
            </a: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 funções de código C# determinísticas.</a:t>
            </a:r>
            <a:endParaRPr lang="en-US" sz="942" dirty="0"/>
          </a:p>
        </p:txBody>
      </p:sp>
      <p:sp>
        <p:nvSpPr>
          <p:cNvPr id="10" name="Shape 6"/>
          <p:cNvSpPr/>
          <p:nvPr/>
        </p:nvSpPr>
        <p:spPr>
          <a:xfrm>
            <a:off x="4679156" y="1294805"/>
            <a:ext cx="3893344" cy="117938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1518047"/>
            <a:ext cx="225028" cy="2000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25653" y="1509117"/>
            <a:ext cx="51970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EDGES</a:t>
            </a:r>
            <a:endParaRPr lang="en-US" sz="1193" dirty="0"/>
          </a:p>
        </p:txBody>
      </p:sp>
      <p:sp>
        <p:nvSpPr>
          <p:cNvPr id="13" name="Text 8"/>
          <p:cNvSpPr/>
          <p:nvPr/>
        </p:nvSpPr>
        <p:spPr>
          <a:xfrm>
            <a:off x="4893469" y="1834158"/>
            <a:ext cx="346471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Conexões que definem o </a:t>
            </a:r>
            <a:r>
              <a:rPr lang="en-US" sz="885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 de mensagens</a:t>
            </a: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entre os Executors. Definem quem fala com quem.</a:t>
            </a:r>
            <a:endParaRPr lang="en-US" sz="942" dirty="0"/>
          </a:p>
        </p:txBody>
      </p:sp>
      <p:sp>
        <p:nvSpPr>
          <p:cNvPr id="14" name="Shape 9"/>
          <p:cNvSpPr/>
          <p:nvPr/>
        </p:nvSpPr>
        <p:spPr>
          <a:xfrm>
            <a:off x="571500" y="2674218"/>
            <a:ext cx="3893344" cy="117938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2897460"/>
            <a:ext cx="200025" cy="2000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2994" y="2888531"/>
            <a:ext cx="109299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ROTEAMENTO</a:t>
            </a:r>
            <a:endParaRPr lang="en-US" sz="1193" dirty="0"/>
          </a:p>
        </p:txBody>
      </p:sp>
      <p:sp>
        <p:nvSpPr>
          <p:cNvPr id="17" name="Text 11"/>
          <p:cNvSpPr/>
          <p:nvPr/>
        </p:nvSpPr>
        <p:spPr>
          <a:xfrm>
            <a:off x="785813" y="3213571"/>
            <a:ext cx="346471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Lógica condicional para decidir o próximo passo com base no </a:t>
            </a:r>
            <a:r>
              <a:rPr lang="en-US" sz="885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conteúdo da mensagem</a:t>
            </a: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 estado do workflow.</a:t>
            </a:r>
            <a:endParaRPr lang="en-US" sz="942" dirty="0"/>
          </a:p>
        </p:txBody>
      </p:sp>
      <p:sp>
        <p:nvSpPr>
          <p:cNvPr id="18" name="Shape 12"/>
          <p:cNvSpPr/>
          <p:nvPr/>
        </p:nvSpPr>
        <p:spPr>
          <a:xfrm>
            <a:off x="4679156" y="2674218"/>
            <a:ext cx="3893344" cy="1179388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3469" y="2897460"/>
            <a:ext cx="175022" cy="20002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175647" y="2888531"/>
            <a:ext cx="128587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CHECKPOINTING</a:t>
            </a:r>
            <a:endParaRPr lang="en-US" sz="1193" dirty="0"/>
          </a:p>
        </p:txBody>
      </p:sp>
      <p:sp>
        <p:nvSpPr>
          <p:cNvPr id="21" name="Text 14"/>
          <p:cNvSpPr/>
          <p:nvPr/>
        </p:nvSpPr>
        <p:spPr>
          <a:xfrm>
            <a:off x="4893469" y="3213571"/>
            <a:ext cx="346471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Persistência do estado em cada nó. Permite </a:t>
            </a:r>
            <a:r>
              <a:rPr lang="en-US" sz="885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resiliência, auditoria</a:t>
            </a: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interações humanas (Human-in-the-loop).</a:t>
            </a:r>
            <a:endParaRPr lang="en-US" sz="942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61C9E7-7877-FD03-4E5E-13CA2341D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6388" name="Picture 4" descr="What is Demo Software? - Visitor Queue">
            <a:extLst>
              <a:ext uri="{FF2B5EF4-FFF2-40B4-BE49-F238E27FC236}">
                <a16:creationId xmlns:a16="http://schemas.microsoft.com/office/drawing/2014/main" id="{41B250DA-4620-FDEF-607B-6973BA331A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982" y="1117978"/>
            <a:ext cx="4447104" cy="2907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0" name="Picture 6" descr="Conheça o filme que está por trás do famoso meme do diabo com a criança na  internet | Tribuna PR - Paraná Online">
            <a:extLst>
              <a:ext uri="{FF2B5EF4-FFF2-40B4-BE49-F238E27FC236}">
                <a16:creationId xmlns:a16="http://schemas.microsoft.com/office/drawing/2014/main" id="{1B8C74F3-AD45-BCCA-E492-B8F246593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0213" y="1734271"/>
            <a:ext cx="3520919" cy="2347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34E5B29-8E29-B30D-EB28-CEEB97888972}"/>
              </a:ext>
            </a:extLst>
          </p:cNvPr>
          <p:cNvSpPr txBox="1"/>
          <p:nvPr/>
        </p:nvSpPr>
        <p:spPr>
          <a:xfrm>
            <a:off x="4908160" y="834927"/>
            <a:ext cx="3641725" cy="706095"/>
          </a:xfrm>
          <a:prstGeom prst="rect">
            <a:avLst/>
          </a:prstGeom>
          <a:noFill/>
        </p:spPr>
        <p:txBody>
          <a:bodyPr wrap="square" lIns="134464" tIns="107571" rIns="134464" bIns="107571" rtlCol="0">
            <a:spAutoFit/>
          </a:bodyPr>
          <a:lstStyle/>
          <a:p>
            <a:pPr>
              <a:lnSpc>
                <a:spcPct val="90000"/>
              </a:lnSpc>
              <a:spcAft>
                <a:spcPts val="441"/>
              </a:spcAft>
            </a:pPr>
            <a:r>
              <a:rPr lang="pt-BR" sz="1765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Vai nessa, mostra pra eles, vai funcionar tudinho.....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1A6AF4B-DF4A-3025-3429-AB27D80F58A0}"/>
              </a:ext>
            </a:extLst>
          </p:cNvPr>
          <p:cNvSpPr txBox="1"/>
          <p:nvPr/>
        </p:nvSpPr>
        <p:spPr>
          <a:xfrm>
            <a:off x="1378487" y="4237641"/>
            <a:ext cx="4988604" cy="296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324" dirty="0">
                <a:hlinkClick r:id="rId4"/>
              </a:rPr>
              <a:t>https://ai.azure.com/</a:t>
            </a:r>
            <a:endParaRPr lang="pt-BR" sz="1324" dirty="0"/>
          </a:p>
        </p:txBody>
      </p:sp>
    </p:spTree>
    <p:extLst>
      <p:ext uri="{BB962C8B-B14F-4D97-AF65-F5344CB8AC3E}">
        <p14:creationId xmlns:p14="http://schemas.microsoft.com/office/powerpoint/2010/main" val="9142583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001000" cy="10161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1009055"/>
            <a:ext cx="8001000" cy="714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Projeto com Funções (Local FunctionTool)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294805"/>
            <a:ext cx="2857500" cy="896541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714375" y="1437680"/>
            <a:ext cx="257175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A3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QUE É?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714375" y="1691283"/>
            <a:ext cx="257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 qualquer </a:t>
            </a:r>
            <a:r>
              <a:rPr lang="en-US" sz="784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método C#</a:t>
            </a: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 uma ferramenta que o agente pode chamar.</a:t>
            </a:r>
            <a:endParaRPr lang="en-US" sz="834" dirty="0"/>
          </a:p>
        </p:txBody>
      </p:sp>
      <p:sp>
        <p:nvSpPr>
          <p:cNvPr id="9" name="Shape 6"/>
          <p:cNvSpPr/>
          <p:nvPr/>
        </p:nvSpPr>
        <p:spPr>
          <a:xfrm>
            <a:off x="571500" y="2319933"/>
            <a:ext cx="2857500" cy="1067991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714375" y="2462808"/>
            <a:ext cx="257175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A3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QUANDO USAR?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714375" y="2716411"/>
            <a:ext cx="2571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Acesso a recursos locais, cálculos determinísticos rápidos e integração com código legado no mesmo processo.</a:t>
            </a:r>
            <a:endParaRPr lang="en-US" sz="834" dirty="0"/>
          </a:p>
        </p:txBody>
      </p:sp>
      <p:sp>
        <p:nvSpPr>
          <p:cNvPr id="12" name="Shape 9"/>
          <p:cNvSpPr/>
          <p:nvPr/>
        </p:nvSpPr>
        <p:spPr>
          <a:xfrm>
            <a:off x="3714750" y="1294805"/>
            <a:ext cx="4857750" cy="2523027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3929063" y="1509117"/>
            <a:ext cx="4429125" cy="2080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6272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1. Defina sua lógica local</a:t>
            </a:r>
            <a:r>
              <a:rPr lang="en-US" sz="834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[Description(</a:t>
            </a:r>
            <a:r>
              <a:rPr lang="en-US" sz="834" dirty="0">
                <a:solidFill>
                  <a:srgbClr val="8BE9F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"Calcula o imposto sobre um valor"</a:t>
            </a:r>
            <a:r>
              <a:rPr lang="en-US" sz="834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)]
</a:t>
            </a:r>
            <a:r>
              <a:rPr lang="en-US" sz="784" b="1" dirty="0">
                <a:solidFill>
                  <a:srgbClr val="00A3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public double</a:t>
            </a:r>
            <a:r>
              <a:rPr lang="en-US" sz="834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CalcularImposto(</a:t>
            </a:r>
            <a:r>
              <a:rPr lang="en-US" sz="784" b="1" dirty="0">
                <a:solidFill>
                  <a:srgbClr val="00A3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double</a:t>
            </a:r>
            <a:r>
              <a:rPr lang="en-US" sz="834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valor) =&gt; valor * 0.15;
</a:t>
            </a:r>
            <a:r>
              <a:rPr lang="en-US" sz="834" dirty="0">
                <a:solidFill>
                  <a:srgbClr val="6272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2. Crie a ferramenta</a:t>
            </a:r>
            <a:r>
              <a:rPr lang="en-US" sz="834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784" b="1" dirty="0">
                <a:solidFill>
                  <a:srgbClr val="00A3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var</a:t>
            </a:r>
            <a:r>
              <a:rPr lang="en-US" sz="834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tool = AIAgentFunctionTool.Create(CalcularImposto);
</a:t>
            </a:r>
            <a:r>
              <a:rPr lang="en-US" sz="834" dirty="0">
                <a:solidFill>
                  <a:srgbClr val="6272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3. Injete no agente</a:t>
            </a:r>
            <a:r>
              <a:rPr lang="en-US" sz="834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784" b="1" dirty="0">
                <a:solidFill>
                  <a:srgbClr val="00A3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var</a:t>
            </a:r>
            <a:r>
              <a:rPr lang="en-US" sz="834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agent = </a:t>
            </a:r>
            <a:r>
              <a:rPr lang="en-US" sz="784" b="1" dirty="0">
                <a:solidFill>
                  <a:srgbClr val="00A3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new</a:t>
            </a:r>
            <a:r>
              <a:rPr lang="en-US" sz="834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AIAgent(...);
agent.AddTool(tool);
</a:t>
            </a:r>
            <a:r>
              <a:rPr lang="en-US" sz="834" dirty="0">
                <a:solidFill>
                  <a:srgbClr val="6272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4. O agente decide quando chamar!</a:t>
            </a:r>
            <a:r>
              <a:rPr lang="en-US" sz="834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784" b="1" dirty="0">
                <a:solidFill>
                  <a:srgbClr val="00A3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var</a:t>
            </a:r>
            <a:r>
              <a:rPr lang="en-US" sz="834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res = </a:t>
            </a:r>
            <a:r>
              <a:rPr lang="en-US" sz="784" b="1" dirty="0">
                <a:solidFill>
                  <a:srgbClr val="00A3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await</a:t>
            </a:r>
            <a:r>
              <a:rPr lang="en-US" sz="834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agent.RunAsync(</a:t>
            </a:r>
            <a:r>
              <a:rPr lang="en-US" sz="834" dirty="0">
                <a:solidFill>
                  <a:srgbClr val="8BE9F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"Qual o imposto para 1000?"</a:t>
            </a:r>
            <a:r>
              <a:rPr lang="en-US" sz="834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);</a:t>
            </a:r>
            <a:endParaRPr lang="en-US" sz="834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001000" cy="10161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1009055"/>
            <a:ext cx="8001000" cy="714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Projeto com MCP (Remote Tools)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294805"/>
            <a:ext cx="2857500" cy="1067991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714375" y="1437680"/>
            <a:ext cx="257175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A3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QUE É?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714375" y="1691283"/>
            <a:ext cx="257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Consome ferramentas expostas por um servidor </a:t>
            </a:r>
            <a:r>
              <a:rPr lang="en-US" sz="784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externo</a:t>
            </a: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(via stdio, http ou websocket).</a:t>
            </a:r>
            <a:endParaRPr lang="en-US" sz="834" dirty="0"/>
          </a:p>
        </p:txBody>
      </p:sp>
      <p:sp>
        <p:nvSpPr>
          <p:cNvPr id="9" name="Shape 6"/>
          <p:cNvSpPr/>
          <p:nvPr/>
        </p:nvSpPr>
        <p:spPr>
          <a:xfrm>
            <a:off x="571500" y="2319933"/>
            <a:ext cx="2857500" cy="1067991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714375" y="2462808"/>
            <a:ext cx="257175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A3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QUANDO USAR?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714375" y="2716411"/>
            <a:ext cx="2571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Ferramentas compartilhadas entre múltiplos agentes, APIs de terceiros e acesso a dados em ambientes isolados.</a:t>
            </a:r>
            <a:endParaRPr lang="en-US" sz="834" dirty="0"/>
          </a:p>
        </p:txBody>
      </p:sp>
      <p:sp>
        <p:nvSpPr>
          <p:cNvPr id="12" name="Shape 9"/>
          <p:cNvSpPr/>
          <p:nvPr/>
        </p:nvSpPr>
        <p:spPr>
          <a:xfrm>
            <a:off x="3714750" y="1294805"/>
            <a:ext cx="4857750" cy="2363019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3929063" y="1509117"/>
            <a:ext cx="4429125" cy="1920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6272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1. Conecte ao servidor MCP externo</a:t>
            </a:r>
            <a:r>
              <a:rPr lang="en-US" sz="834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784" b="1" dirty="0">
                <a:solidFill>
                  <a:srgbClr val="00A3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var</a:t>
            </a:r>
            <a:r>
              <a:rPr lang="en-US" sz="834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transport = </a:t>
            </a:r>
            <a:r>
              <a:rPr lang="en-US" sz="784" b="1" dirty="0">
                <a:solidFill>
                  <a:srgbClr val="00A3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new</a:t>
            </a:r>
            <a:r>
              <a:rPr lang="en-US" sz="834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834" dirty="0">
                <a:solidFill>
                  <a:srgbClr val="50FA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StdioMcpTransport</a:t>
            </a:r>
            <a:r>
              <a:rPr lang="en-US" sz="834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</a:t>
            </a:r>
            <a:r>
              <a:rPr lang="en-US" sz="834" dirty="0">
                <a:solidFill>
                  <a:srgbClr val="8BE9F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"npx"</a:t>
            </a:r>
            <a:r>
              <a:rPr lang="en-US" sz="834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 </a:t>
            </a:r>
            <a:r>
              <a:rPr lang="en-US" sz="834" dirty="0">
                <a:solidFill>
                  <a:srgbClr val="8BE9F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"-y @modelcontextprotocol/server-github"</a:t>
            </a:r>
            <a:r>
              <a:rPr lang="en-US" sz="834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);
</a:t>
            </a:r>
            <a:r>
              <a:rPr lang="en-US" sz="784" b="1" dirty="0">
                <a:solidFill>
                  <a:srgbClr val="00A3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var</a:t>
            </a:r>
            <a:r>
              <a:rPr lang="en-US" sz="834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mcpClient = </a:t>
            </a:r>
            <a:r>
              <a:rPr lang="en-US" sz="784" b="1" dirty="0">
                <a:solidFill>
                  <a:srgbClr val="00A3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await</a:t>
            </a:r>
            <a:r>
              <a:rPr lang="en-US" sz="834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834" dirty="0">
                <a:solidFill>
                  <a:srgbClr val="50FA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McpClientFactory</a:t>
            </a:r>
            <a:r>
              <a:rPr lang="en-US" sz="834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.CreateAsync(transport);
</a:t>
            </a:r>
            <a:r>
              <a:rPr lang="en-US" sz="834" dirty="0">
                <a:solidFill>
                  <a:srgbClr val="6272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2. Liste e injete as ferramentas</a:t>
            </a:r>
            <a:r>
              <a:rPr lang="en-US" sz="834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784" b="1" dirty="0">
                <a:solidFill>
                  <a:srgbClr val="00A3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var</a:t>
            </a:r>
            <a:r>
              <a:rPr lang="en-US" sz="834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mcpTools = </a:t>
            </a:r>
            <a:r>
              <a:rPr lang="en-US" sz="784" b="1" dirty="0">
                <a:solidFill>
                  <a:srgbClr val="00A3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await</a:t>
            </a:r>
            <a:r>
              <a:rPr lang="en-US" sz="834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mcpClient.ListToolsAsync();
agent.AddTools(mcpTools.Cast&lt;</a:t>
            </a:r>
            <a:r>
              <a:rPr lang="en-US" sz="834" dirty="0">
                <a:solidFill>
                  <a:srgbClr val="50FA7B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AITool</a:t>
            </a:r>
            <a:r>
              <a:rPr lang="en-US" sz="834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&gt;());
</a:t>
            </a:r>
            <a:r>
              <a:rPr lang="en-US" sz="834" dirty="0">
                <a:solidFill>
                  <a:srgbClr val="6272A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3. O agente descobre e usa dinamicamente!</a:t>
            </a:r>
            <a:r>
              <a:rPr lang="en-US" sz="834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784" b="1" dirty="0">
                <a:solidFill>
                  <a:srgbClr val="00A3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var</a:t>
            </a:r>
            <a:r>
              <a:rPr lang="en-US" sz="834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res = </a:t>
            </a:r>
            <a:r>
              <a:rPr lang="en-US" sz="784" b="1" dirty="0">
                <a:solidFill>
                  <a:srgbClr val="00A3E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await</a:t>
            </a:r>
            <a:r>
              <a:rPr lang="en-US" sz="834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agent.RunAsync(</a:t>
            </a:r>
            <a:r>
              <a:rPr lang="en-US" sz="834" dirty="0">
                <a:solidFill>
                  <a:srgbClr val="8BE9FD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"Quais os últimos commits do repo X?"</a:t>
            </a:r>
            <a:r>
              <a:rPr lang="en-US" sz="834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);</a:t>
            </a:r>
            <a:endParaRPr lang="en-US" sz="834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001000" cy="10161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1009055"/>
            <a:ext cx="8001000" cy="714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Workflows vs. Agentes: Guia Prático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294805"/>
            <a:ext cx="8001000" cy="2668191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575072" y="1298377"/>
            <a:ext cx="1998464" cy="567928"/>
          </a:xfrm>
          <a:prstGeom prst="rect">
            <a:avLst/>
          </a:prstGeom>
          <a:solidFill>
            <a:srgbClr val="00A3E0"/>
          </a:solidFill>
          <a:ln w="9144">
            <a:solidFill>
              <a:srgbClr val="00A3E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575072" y="1298377"/>
            <a:ext cx="1998464" cy="567928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CRITÉRIO</a:t>
            </a:r>
            <a:endParaRPr lang="en-US" sz="1193" dirty="0"/>
          </a:p>
        </p:txBody>
      </p:sp>
      <p:sp>
        <p:nvSpPr>
          <p:cNvPr id="9" name="Shape 6"/>
          <p:cNvSpPr/>
          <p:nvPr/>
        </p:nvSpPr>
        <p:spPr>
          <a:xfrm>
            <a:off x="2573536" y="1298377"/>
            <a:ext cx="2804229" cy="567928"/>
          </a:xfrm>
          <a:prstGeom prst="rect">
            <a:avLst/>
          </a:prstGeom>
          <a:solidFill>
            <a:srgbClr val="00A3E0"/>
          </a:solidFill>
          <a:ln w="9144">
            <a:solidFill>
              <a:srgbClr val="00A3E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2573536" y="1298377"/>
            <a:ext cx="2804229" cy="567928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AGENTE (DINÂMICO)</a:t>
            </a:r>
            <a:endParaRPr lang="en-US" sz="1193" dirty="0"/>
          </a:p>
        </p:txBody>
      </p:sp>
      <p:sp>
        <p:nvSpPr>
          <p:cNvPr id="11" name="Shape 8"/>
          <p:cNvSpPr/>
          <p:nvPr/>
        </p:nvSpPr>
        <p:spPr>
          <a:xfrm>
            <a:off x="5377765" y="1298377"/>
            <a:ext cx="3191163" cy="567928"/>
          </a:xfrm>
          <a:prstGeom prst="rect">
            <a:avLst/>
          </a:prstGeom>
          <a:solidFill>
            <a:srgbClr val="00A3E0"/>
          </a:solidFill>
          <a:ln w="9144">
            <a:solidFill>
              <a:srgbClr val="00A3E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5377765" y="1298377"/>
            <a:ext cx="3191163" cy="567928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WORKFLOW (DETERMINÍSTICO)</a:t>
            </a:r>
            <a:endParaRPr lang="en-US" sz="1193" dirty="0"/>
          </a:p>
        </p:txBody>
      </p:sp>
      <p:sp>
        <p:nvSpPr>
          <p:cNvPr id="13" name="Shape 10"/>
          <p:cNvSpPr/>
          <p:nvPr/>
        </p:nvSpPr>
        <p:spPr>
          <a:xfrm>
            <a:off x="575072" y="1859161"/>
            <a:ext cx="1998464" cy="523280"/>
          </a:xfrm>
          <a:prstGeom prst="rect">
            <a:avLst/>
          </a:prstGeom>
          <a:solidFill>
            <a:srgbClr val="00A3E0">
              <a:alpha val="10000"/>
            </a:srgbClr>
          </a:solidFill>
          <a:ln w="9144">
            <a:solidFill>
              <a:srgbClr val="00A3E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575072" y="1859161"/>
            <a:ext cx="1998464" cy="52328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 de Execução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2748558" y="2034183"/>
            <a:ext cx="92511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Definido pelo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673673" y="2034183"/>
            <a:ext cx="29289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987" dirty="0"/>
          </a:p>
        </p:txBody>
      </p:sp>
      <p:sp>
        <p:nvSpPr>
          <p:cNvPr id="17" name="Text 14"/>
          <p:cNvSpPr/>
          <p:nvPr/>
        </p:nvSpPr>
        <p:spPr>
          <a:xfrm>
            <a:off x="3966567" y="2034183"/>
            <a:ext cx="99476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tempo real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552787" y="2034183"/>
            <a:ext cx="92511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Definido pelo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477902" y="2034183"/>
            <a:ext cx="104477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Desenvolvedor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7522676" y="2034183"/>
            <a:ext cx="59650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grafo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75072" y="2382441"/>
            <a:ext cx="1998464" cy="523280"/>
          </a:xfrm>
          <a:prstGeom prst="rect">
            <a:avLst/>
          </a:prstGeom>
          <a:solidFill>
            <a:srgbClr val="00A3E0">
              <a:alpha val="10000"/>
            </a:srgbClr>
          </a:solidFill>
          <a:ln w="9144">
            <a:solidFill>
              <a:srgbClr val="00A3E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575072" y="2382441"/>
            <a:ext cx="1998464" cy="52328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Previsibilidade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2573536" y="2382441"/>
            <a:ext cx="2804229" cy="52328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Variável (Probabilístico)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377765" y="2382441"/>
            <a:ext cx="3191163" cy="52328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 (Determinístico)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75072" y="2905720"/>
            <a:ext cx="1998464" cy="523280"/>
          </a:xfrm>
          <a:prstGeom prst="rect">
            <a:avLst/>
          </a:prstGeom>
          <a:solidFill>
            <a:srgbClr val="00A3E0">
              <a:alpha val="10000"/>
            </a:srgbClr>
          </a:solidFill>
          <a:ln w="9144">
            <a:solidFill>
              <a:srgbClr val="00A3E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575072" y="2905720"/>
            <a:ext cx="1998464" cy="52328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Complexidade</a:t>
            </a:r>
            <a:endParaRPr lang="en-US" sz="987" dirty="0"/>
          </a:p>
        </p:txBody>
      </p:sp>
      <p:sp>
        <p:nvSpPr>
          <p:cNvPr id="27" name="Text 24"/>
          <p:cNvSpPr/>
          <p:nvPr/>
        </p:nvSpPr>
        <p:spPr>
          <a:xfrm>
            <a:off x="2573536" y="2905720"/>
            <a:ext cx="2804229" cy="52328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 (Raciocínio complexo)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377765" y="2905720"/>
            <a:ext cx="3191163" cy="52328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Média (Processo estruturado)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75072" y="3429000"/>
            <a:ext cx="1998464" cy="523280"/>
          </a:xfrm>
          <a:prstGeom prst="rect">
            <a:avLst/>
          </a:prstGeom>
          <a:solidFill>
            <a:srgbClr val="00A3E0">
              <a:alpha val="10000"/>
            </a:srgbClr>
          </a:solidFill>
          <a:ln w="9144">
            <a:solidFill>
              <a:srgbClr val="00A3E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7"/>
          <p:cNvSpPr/>
          <p:nvPr/>
        </p:nvSpPr>
        <p:spPr>
          <a:xfrm>
            <a:off x="575072" y="3429000"/>
            <a:ext cx="1998464" cy="52328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Melhor para...</a:t>
            </a:r>
            <a:endParaRPr lang="en-US" sz="987" dirty="0"/>
          </a:p>
        </p:txBody>
      </p:sp>
      <p:sp>
        <p:nvSpPr>
          <p:cNvPr id="31" name="Text 28"/>
          <p:cNvSpPr/>
          <p:nvPr/>
        </p:nvSpPr>
        <p:spPr>
          <a:xfrm>
            <a:off x="2570857" y="3429000"/>
            <a:ext cx="2805485" cy="52328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Criatividade, Exploração, Chat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376342" y="3429000"/>
            <a:ext cx="3192587" cy="52328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Compliance, Processos de Negócio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Exploring the Microsoft Azure AI Portfolio: A Framework for Azure AI Design  Projects | NRI">
            <a:extLst>
              <a:ext uri="{FF2B5EF4-FFF2-40B4-BE49-F238E27FC236}">
                <a16:creationId xmlns:a16="http://schemas.microsoft.com/office/drawing/2014/main" id="{D587E939-5F1D-04B6-D5C4-5280DDB6F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65"/>
            <a:ext cx="9190570" cy="5142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1081368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30312-282B-E96B-DBEF-72C7C6876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sz="3600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523F5E-9D47-D757-30CF-01AC20D884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4717" y="917952"/>
            <a:ext cx="2859094" cy="1037507"/>
          </a:xfrm>
        </p:spPr>
        <p:txBody>
          <a:bodyPr/>
          <a:lstStyle/>
          <a:p>
            <a:r>
              <a:rPr lang="pt-BR" sz="1765" dirty="0">
                <a:hlinkClick r:id="rId2"/>
              </a:rPr>
              <a:t>Centro de Arquitetura do Azure - Azure </a:t>
            </a:r>
            <a:r>
              <a:rPr lang="pt-BR" sz="1765" dirty="0" err="1">
                <a:hlinkClick r:id="rId2"/>
              </a:rPr>
              <a:t>Architecture</a:t>
            </a:r>
            <a:r>
              <a:rPr lang="pt-BR" sz="1765" dirty="0">
                <a:hlinkClick r:id="rId2"/>
              </a:rPr>
              <a:t> Center | Microsoft </a:t>
            </a:r>
            <a:r>
              <a:rPr lang="pt-BR" sz="1765" dirty="0" err="1">
                <a:hlinkClick r:id="rId2"/>
              </a:rPr>
              <a:t>Learn</a:t>
            </a:r>
            <a:endParaRPr lang="pt-BR" sz="1765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F2C62C8-B3D2-0022-AE07-AA7EDBFA5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956" y="792906"/>
            <a:ext cx="5490602" cy="4046349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50BD3B9-C5DF-1B94-46BF-D4D0354B5099}"/>
              </a:ext>
            </a:extLst>
          </p:cNvPr>
          <p:cNvSpPr txBox="1"/>
          <p:nvPr/>
        </p:nvSpPr>
        <p:spPr>
          <a:xfrm>
            <a:off x="6101514" y="2096531"/>
            <a:ext cx="2672477" cy="1450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65" dirty="0">
                <a:hlinkClick r:id="rId4"/>
              </a:rPr>
              <a:t>Basic Microsoft Foundry Chat Reference Architecture - Azure Architecture Center | Microsoft Learn</a:t>
            </a:r>
            <a:endParaRPr lang="pt-BR" sz="1765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306C756-5DCC-05F0-827A-13424043B895}"/>
              </a:ext>
            </a:extLst>
          </p:cNvPr>
          <p:cNvSpPr txBox="1"/>
          <p:nvPr/>
        </p:nvSpPr>
        <p:spPr>
          <a:xfrm>
            <a:off x="627399" y="113466"/>
            <a:ext cx="7381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Arquiteturas de Referência</a:t>
            </a:r>
          </a:p>
        </p:txBody>
      </p:sp>
    </p:spTree>
    <p:extLst>
      <p:ext uri="{BB962C8B-B14F-4D97-AF65-F5344CB8AC3E}">
        <p14:creationId xmlns:p14="http://schemas.microsoft.com/office/powerpoint/2010/main" val="2023785440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A4940-3AC4-F85A-570C-210756773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2373B13-7647-5102-81F2-ADE08E1C24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074" name="Picture 2" descr="Discover Microsoft's AI Ecosystem - Innovating Across Platforms">
            <a:extLst>
              <a:ext uri="{FF2B5EF4-FFF2-40B4-BE49-F238E27FC236}">
                <a16:creationId xmlns:a16="http://schemas.microsoft.com/office/drawing/2014/main" id="{C2972D34-FF5D-85D2-C0DA-9133A3321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034"/>
            <a:ext cx="9144000" cy="5132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6282641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00125" y="563463"/>
            <a:ext cx="7143750" cy="4016573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1743075" y="999232"/>
            <a:ext cx="5657850" cy="508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Conclusão e Próximos Passos</a:t>
            </a:r>
            <a:endParaRPr lang="en-US" sz="2862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731" y="1851124"/>
            <a:ext cx="285750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85875" y="2222599"/>
            <a:ext cx="2095491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Unificação</a:t>
            </a:r>
            <a:endParaRPr lang="en-US" sz="1090" dirty="0"/>
          </a:p>
        </p:txBody>
      </p:sp>
      <p:sp>
        <p:nvSpPr>
          <p:cNvPr id="7" name="Text 3"/>
          <p:cNvSpPr/>
          <p:nvPr/>
        </p:nvSpPr>
        <p:spPr>
          <a:xfrm>
            <a:off x="1285875" y="2495848"/>
            <a:ext cx="209549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melhor do </a:t>
            </a:r>
            <a:r>
              <a:rPr lang="en-US" sz="784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Kernel</a:t>
            </a: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r>
              <a:rPr lang="en-US" sz="784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AutoGen</a:t>
            </a: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 um único framework nativo.</a:t>
            </a:r>
            <a:endParaRPr lang="en-US" sz="834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9097" y="1851124"/>
            <a:ext cx="285750" cy="2857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524241" y="2222599"/>
            <a:ext cx="2095491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Enterprise-Ready</a:t>
            </a:r>
            <a:endParaRPr lang="en-US" sz="1090" dirty="0"/>
          </a:p>
        </p:txBody>
      </p:sp>
      <p:sp>
        <p:nvSpPr>
          <p:cNvPr id="10" name="Text 5"/>
          <p:cNvSpPr/>
          <p:nvPr/>
        </p:nvSpPr>
        <p:spPr>
          <a:xfrm>
            <a:off x="3524241" y="2495848"/>
            <a:ext cx="20954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total em </a:t>
            </a:r>
            <a:r>
              <a:rPr lang="en-US" sz="784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segurança, estado e telemetria</a:t>
            </a: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produção.</a:t>
            </a:r>
            <a:endParaRPr lang="en-US" sz="834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9631" y="1851124"/>
            <a:ext cx="321469" cy="2857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762606" y="2222599"/>
            <a:ext cx="2095519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Controle Total</a:t>
            </a:r>
            <a:endParaRPr lang="en-US" sz="1090" dirty="0"/>
          </a:p>
        </p:txBody>
      </p:sp>
      <p:sp>
        <p:nvSpPr>
          <p:cNvPr id="13" name="Text 7"/>
          <p:cNvSpPr/>
          <p:nvPr/>
        </p:nvSpPr>
        <p:spPr>
          <a:xfrm>
            <a:off x="5762606" y="2495848"/>
            <a:ext cx="209551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Workflows em grafo</a:t>
            </a: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orquestração complexa e determinística.</a:t>
            </a:r>
            <a:endParaRPr lang="en-US" sz="784" dirty="0"/>
          </a:p>
        </p:txBody>
      </p:sp>
      <p:sp>
        <p:nvSpPr>
          <p:cNvPr id="14" name="Text 8"/>
          <p:cNvSpPr/>
          <p:nvPr/>
        </p:nvSpPr>
        <p:spPr>
          <a:xfrm>
            <a:off x="1285875" y="3445966"/>
            <a:ext cx="657225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A3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Comece a construir hoje mesmo:</a:t>
            </a:r>
            <a:endParaRPr lang="en-US" sz="1193" dirty="0"/>
          </a:p>
        </p:txBody>
      </p:sp>
      <p:sp>
        <p:nvSpPr>
          <p:cNvPr id="15" name="Shape 9"/>
          <p:cNvSpPr/>
          <p:nvPr/>
        </p:nvSpPr>
        <p:spPr>
          <a:xfrm>
            <a:off x="2877145" y="3806726"/>
            <a:ext cx="3389709" cy="339328"/>
          </a:xfrm>
          <a:prstGeom prst="rect">
            <a:avLst/>
          </a:prstGeom>
          <a:solidFill>
            <a:srgbClr val="00A3E0">
              <a:alpha val="10000"/>
            </a:srgbClr>
          </a:solidFill>
          <a:ln w="9144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0"/>
          <p:cNvSpPr/>
          <p:nvPr/>
        </p:nvSpPr>
        <p:spPr>
          <a:xfrm>
            <a:off x="2877145" y="3806726"/>
            <a:ext cx="3389709" cy="339328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learn.microsoft.com/en-us/agent-framework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1285875" y="4267498"/>
            <a:ext cx="65722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Obrigado pela atenção! Perguntas?</a:t>
            </a:r>
            <a:endParaRPr lang="en-US" sz="942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001000" cy="101619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571500" y="1009055"/>
            <a:ext cx="8001000" cy="714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Referências e Recursos Adicionais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294805"/>
            <a:ext cx="8001000" cy="701873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524298"/>
            <a:ext cx="200025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85850" y="1437680"/>
            <a:ext cx="4418409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Documentação Oficial do Microsoft Agent Framework</a:t>
            </a:r>
            <a:endParaRPr lang="en-US" sz="1269" dirty="0"/>
          </a:p>
        </p:txBody>
      </p:sp>
      <p:sp>
        <p:nvSpPr>
          <p:cNvPr id="9" name="Text 5"/>
          <p:cNvSpPr/>
          <p:nvPr/>
        </p:nvSpPr>
        <p:spPr>
          <a:xfrm>
            <a:off x="1085850" y="1684139"/>
            <a:ext cx="441840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learn.microsoft.com/en-us/agent-framework/</a:t>
            </a:r>
            <a:endParaRPr lang="en-US" sz="942" dirty="0"/>
          </a:p>
        </p:txBody>
      </p:sp>
      <p:sp>
        <p:nvSpPr>
          <p:cNvPr id="10" name="Shape 6"/>
          <p:cNvSpPr/>
          <p:nvPr/>
        </p:nvSpPr>
        <p:spPr>
          <a:xfrm>
            <a:off x="571500" y="2196703"/>
            <a:ext cx="8001000" cy="701873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426196"/>
            <a:ext cx="221456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07281" y="2339578"/>
            <a:ext cx="439340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Repositório de Exemplos (Agent Framework Samples)</a:t>
            </a:r>
            <a:endParaRPr lang="en-US" sz="1269" dirty="0"/>
          </a:p>
        </p:txBody>
      </p:sp>
      <p:sp>
        <p:nvSpPr>
          <p:cNvPr id="13" name="Text 8"/>
          <p:cNvSpPr/>
          <p:nvPr/>
        </p:nvSpPr>
        <p:spPr>
          <a:xfrm>
            <a:off x="1107281" y="2586038"/>
            <a:ext cx="3396764" cy="3011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github.com/microsoft/</a:t>
            </a:r>
            <a:r>
              <a:rPr lang="en-US" sz="942" dirty="0">
                <a:solidFill>
                  <a:srgbClr val="00A3E0"/>
                </a:solidFill>
                <a:latin typeface="Inter" pitchFamily="34" charset="0"/>
                <a:ea typeface="Inter" pitchFamily="34" charset="-122"/>
              </a:rPr>
              <a:t>Agent-Framework-Samples</a:t>
            </a:r>
          </a:p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00A3E0"/>
                </a:solidFill>
                <a:latin typeface="Inter" pitchFamily="34" charset="0"/>
                <a:ea typeface="Inter" pitchFamily="34" charset="-122"/>
              </a:rPr>
              <a:t>github.com/microsoft/agent-framework/tree/main/dotnet/samples</a:t>
            </a:r>
          </a:p>
        </p:txBody>
      </p:sp>
      <p:sp>
        <p:nvSpPr>
          <p:cNvPr id="14" name="Shape 9"/>
          <p:cNvSpPr/>
          <p:nvPr/>
        </p:nvSpPr>
        <p:spPr>
          <a:xfrm>
            <a:off x="571500" y="3098602"/>
            <a:ext cx="8001000" cy="701873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3328095"/>
            <a:ext cx="200025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85850" y="3241477"/>
            <a:ext cx="353615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Blog de Engenharia da Microsoft (Azure AI)</a:t>
            </a:r>
            <a:endParaRPr lang="en-US" sz="1269" dirty="0"/>
          </a:p>
        </p:txBody>
      </p:sp>
      <p:sp>
        <p:nvSpPr>
          <p:cNvPr id="17" name="Text 11"/>
          <p:cNvSpPr/>
          <p:nvPr/>
        </p:nvSpPr>
        <p:spPr>
          <a:xfrm>
            <a:off x="1085850" y="3487936"/>
            <a:ext cx="35361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devblogs.microsoft.com/agent-framework/</a:t>
            </a:r>
            <a:endParaRPr lang="en-US" sz="942" dirty="0"/>
          </a:p>
        </p:txBody>
      </p:sp>
      <p:sp>
        <p:nvSpPr>
          <p:cNvPr id="18" name="Shape 12"/>
          <p:cNvSpPr/>
          <p:nvPr/>
        </p:nvSpPr>
        <p:spPr>
          <a:xfrm>
            <a:off x="571500" y="4000500"/>
            <a:ext cx="8001000" cy="701873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A3E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4229993"/>
            <a:ext cx="257175" cy="2286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43000" y="4143375"/>
            <a:ext cx="365045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Model Context Protocol (MCP) Specification</a:t>
            </a:r>
            <a:endParaRPr lang="en-US" sz="1269" dirty="0"/>
          </a:p>
        </p:txBody>
      </p:sp>
      <p:sp>
        <p:nvSpPr>
          <p:cNvPr id="21" name="Text 14"/>
          <p:cNvSpPr/>
          <p:nvPr/>
        </p:nvSpPr>
        <p:spPr>
          <a:xfrm>
            <a:off x="1143000" y="4389834"/>
            <a:ext cx="36504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00A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modelcontextprotocol.io</a:t>
            </a:r>
            <a:endParaRPr lang="en-US" sz="942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0738C8AB-A787-4AAD-BCCD-5971BB270C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8725" b="-1"/>
          <a:stretch/>
        </p:blipFill>
        <p:spPr>
          <a:xfrm>
            <a:off x="4577271" y="7"/>
            <a:ext cx="4566728" cy="51434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208BD3-EACD-4686-8F99-3BBAA99D8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1" y="246384"/>
            <a:ext cx="3583790" cy="1221728"/>
          </a:xfrm>
        </p:spPr>
        <p:txBody>
          <a:bodyPr anchor="ctr">
            <a:normAutofit/>
          </a:bodyPr>
          <a:lstStyle/>
          <a:p>
            <a:r>
              <a:rPr lang="en-US" sz="3000" dirty="0" err="1">
                <a:cs typeface="Calibri Light"/>
              </a:rPr>
              <a:t>Contatos</a:t>
            </a: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1B30C-8E40-4936-A96F-9B1D6227C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226" y="3062098"/>
            <a:ext cx="3494817" cy="2530603"/>
          </a:xfrm>
        </p:spPr>
        <p:txBody>
          <a:bodyPr vert="horz" lIns="68580" tIns="34290" rIns="68580" bIns="3429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ea typeface="+mn-lt"/>
                <a:cs typeface="+mn-lt"/>
              </a:rPr>
              <a:t>https://linktr.ee/NIZZOLA</a:t>
            </a:r>
          </a:p>
          <a:p>
            <a:pPr marL="0" indent="0">
              <a:buNone/>
            </a:pPr>
            <a:r>
              <a:rPr lang="en-US" sz="1500" dirty="0">
                <a:ea typeface="+mn-lt"/>
                <a:cs typeface="+mn-lt"/>
              </a:rPr>
              <a:t>https://github.com/nizzola</a:t>
            </a:r>
          </a:p>
          <a:p>
            <a:pPr marL="0" indent="0">
              <a:buNone/>
            </a:pPr>
            <a:r>
              <a:rPr lang="en-US" sz="1500" dirty="0">
                <a:ea typeface="+mn-lt"/>
                <a:cs typeface="+mn-lt"/>
              </a:rPr>
              <a:t>https://www.linkedin.com/in/nizzola</a:t>
            </a:r>
          </a:p>
          <a:p>
            <a:pPr marL="0" indent="0">
              <a:buNone/>
            </a:pPr>
            <a:endParaRPr lang="en-US" sz="15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500" dirty="0">
                <a:ea typeface="+mn-lt"/>
                <a:cs typeface="+mn-lt"/>
              </a:rPr>
              <a:t>Mais de 100 </a:t>
            </a:r>
            <a:r>
              <a:rPr lang="en-US" sz="1500" dirty="0" err="1">
                <a:ea typeface="+mn-lt"/>
                <a:cs typeface="+mn-lt"/>
              </a:rPr>
              <a:t>artigos</a:t>
            </a:r>
            <a:r>
              <a:rPr lang="en-US" sz="1500" dirty="0">
                <a:ea typeface="+mn-lt"/>
                <a:cs typeface="+mn-lt"/>
              </a:rPr>
              <a:t> </a:t>
            </a:r>
            <a:r>
              <a:rPr lang="en-US" sz="1500" dirty="0" err="1">
                <a:ea typeface="+mn-lt"/>
                <a:cs typeface="+mn-lt"/>
              </a:rPr>
              <a:t>sobre</a:t>
            </a:r>
            <a:r>
              <a:rPr lang="en-US" sz="1500" dirty="0">
                <a:ea typeface="+mn-lt"/>
                <a:cs typeface="+mn-lt"/>
              </a:rPr>
              <a:t> .NET</a:t>
            </a:r>
          </a:p>
          <a:p>
            <a:pPr marL="0" indent="0">
              <a:buNone/>
            </a:pPr>
            <a:r>
              <a:rPr lang="en-US" sz="1500" dirty="0">
                <a:ea typeface="+mn-lt"/>
                <a:cs typeface="+mn-lt"/>
              </a:rPr>
              <a:t>marcionizzola.medium.com</a:t>
            </a:r>
          </a:p>
          <a:p>
            <a:pPr marL="0" indent="0">
              <a:buNone/>
            </a:pPr>
            <a:endParaRPr lang="en-US" sz="1500" dirty="0">
              <a:cs typeface="Calibri"/>
            </a:endParaRPr>
          </a:p>
          <a:p>
            <a:pPr marL="0" indent="0">
              <a:buNone/>
            </a:pPr>
            <a:endParaRPr lang="en-US" sz="15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1575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2871</TotalTime>
  <Words>1912</Words>
  <Application>Microsoft Office PowerPoint</Application>
  <PresentationFormat>Apresentação na tela (16:9)</PresentationFormat>
  <Paragraphs>242</Paragraphs>
  <Slides>31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43" baseType="lpstr">
      <vt:lpstr>Aptos</vt:lpstr>
      <vt:lpstr>Aptos Display</vt:lpstr>
      <vt:lpstr>Arial</vt:lpstr>
      <vt:lpstr>Arial Black</vt:lpstr>
      <vt:lpstr>Calibri</vt:lpstr>
      <vt:lpstr>Calibri Light</vt:lpstr>
      <vt:lpstr>Fira Code</vt:lpstr>
      <vt:lpstr>Inter</vt:lpstr>
      <vt:lpstr>Maven Pro Medium</vt:lpstr>
      <vt:lpstr>Maven Pro Regular</vt:lpstr>
      <vt:lpstr>Space Grotesk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Contatos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Marcio Nizzola</cp:lastModifiedBy>
  <cp:revision>5</cp:revision>
  <dcterms:created xsi:type="dcterms:W3CDTF">2026-04-10T16:08:16Z</dcterms:created>
  <dcterms:modified xsi:type="dcterms:W3CDTF">2026-04-28T19:02:13Z</dcterms:modified>
</cp:coreProperties>
</file>